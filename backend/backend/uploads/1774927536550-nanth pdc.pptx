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3" r:id="rId1"/>
  </p:sldMasterIdLst>
  <p:notesMasterIdLst>
    <p:notesMasterId r:id="rId15"/>
  </p:notesMasterIdLst>
  <p:handoutMasterIdLst>
    <p:handoutMasterId r:id="rId16"/>
  </p:handoutMasterIdLst>
  <p:sldIdLst>
    <p:sldId id="256" r:id="rId2"/>
    <p:sldId id="346" r:id="rId3"/>
    <p:sldId id="354" r:id="rId4"/>
    <p:sldId id="353" r:id="rId5"/>
    <p:sldId id="347" r:id="rId6"/>
    <p:sldId id="301" r:id="rId7"/>
    <p:sldId id="267" r:id="rId8"/>
    <p:sldId id="348" r:id="rId9"/>
    <p:sldId id="318" r:id="rId10"/>
    <p:sldId id="350" r:id="rId11"/>
    <p:sldId id="352" r:id="rId12"/>
    <p:sldId id="351" r:id="rId13"/>
    <p:sldId id="289"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B9D9"/>
    <a:srgbClr val="FFFF99"/>
    <a:srgbClr val="FFFF66"/>
    <a:srgbClr val="96B8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BF689A-6DD9-4F9D-B769-A10F97C20479}" v="2090" dt="2024-03-13T07:27:44.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snapToGrid="0">
      <p:cViewPr>
        <p:scale>
          <a:sx n="100" d="100"/>
          <a:sy n="100" d="100"/>
        </p:scale>
        <p:origin x="950" y="12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BAA75-FEA1-415B-ADEB-E61961CF21E2}" type="datetimeFigureOut">
              <a:rPr lang="en-US" smtClean="0"/>
              <a:pPr/>
              <a:t>1/22/2026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CE23D1005 Monthly Presentation 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34F975-11FD-49CB-9215-F4F8867AA56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5d6f84b7a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5d6f84b7a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264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8046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48173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5d6f84b7a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5d6f84b7a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3276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86295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1577844931"/>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199572451"/>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8254492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71339800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90458794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442936999"/>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45464360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96140325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a:t>Click to edit Master title style</a:t>
            </a:r>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78414462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326018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0639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ctr" defTabSz="571500" rtl="0" eaLnBrk="1" latinLnBrk="0" hangingPunct="1">
        <a:spcBef>
          <a:spcPct val="0"/>
        </a:spcBef>
        <a:buNone/>
        <a:defRPr sz="2750" kern="1200">
          <a:solidFill>
            <a:schemeClr val="tx1"/>
          </a:solidFill>
          <a:latin typeface="+mj-lt"/>
          <a:ea typeface="+mj-ea"/>
          <a:cs typeface="+mj-cs"/>
        </a:defRPr>
      </a:lvl1pPr>
    </p:titleStyle>
    <p:bodyStyle>
      <a:lvl1pPr marL="214313" indent="-214313" algn="l" defTabSz="571500" rtl="0" eaLnBrk="1" latinLnBrk="0" hangingPunct="1">
        <a:spcBef>
          <a:spcPct val="20000"/>
        </a:spcBef>
        <a:buFont typeface="Arial" pitchFamily="34" charset="0"/>
        <a:buChar char="•"/>
        <a:defRPr sz="2000" kern="1200">
          <a:solidFill>
            <a:schemeClr val="tx1"/>
          </a:solidFill>
          <a:latin typeface="+mn-lt"/>
          <a:ea typeface="+mn-ea"/>
          <a:cs typeface="+mn-cs"/>
        </a:defRPr>
      </a:lvl1pPr>
      <a:lvl2pPr marL="464344" indent="-178594" algn="l" defTabSz="571500" rtl="0" eaLnBrk="1" latinLnBrk="0" hangingPunct="1">
        <a:spcBef>
          <a:spcPct val="20000"/>
        </a:spcBef>
        <a:buFont typeface="Arial" pitchFamily="34" charset="0"/>
        <a:buChar char="–"/>
        <a:defRPr sz="1750" kern="1200">
          <a:solidFill>
            <a:schemeClr val="tx1"/>
          </a:solidFill>
          <a:latin typeface="+mn-lt"/>
          <a:ea typeface="+mn-ea"/>
          <a:cs typeface="+mn-cs"/>
        </a:defRPr>
      </a:lvl2pPr>
      <a:lvl3pPr marL="714375" indent="-142875" algn="l" defTabSz="571500" rtl="0" eaLnBrk="1" latinLnBrk="0" hangingPunct="1">
        <a:spcBef>
          <a:spcPct val="20000"/>
        </a:spcBef>
        <a:buFont typeface="Arial" pitchFamily="34" charset="0"/>
        <a:buChar char="•"/>
        <a:defRPr sz="1500" kern="1200">
          <a:solidFill>
            <a:schemeClr val="tx1"/>
          </a:solidFill>
          <a:latin typeface="+mn-lt"/>
          <a:ea typeface="+mn-ea"/>
          <a:cs typeface="+mn-cs"/>
        </a:defRPr>
      </a:lvl3pPr>
      <a:lvl4pPr marL="10001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4pPr>
      <a:lvl5pPr marL="12858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5pPr>
      <a:lvl6pPr marL="15716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6pPr>
      <a:lvl7pPr marL="18573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7pPr>
      <a:lvl8pPr marL="21431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8pPr>
      <a:lvl9pPr marL="24288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9pPr>
    </p:bodyStyle>
    <p:otherStyle>
      <a:defPPr>
        <a:defRPr lang="en-US"/>
      </a:defPPr>
      <a:lvl1pPr marL="0" algn="l" defTabSz="571500" rtl="0" eaLnBrk="1" latinLnBrk="0" hangingPunct="1">
        <a:defRPr sz="1125" kern="1200">
          <a:solidFill>
            <a:schemeClr val="tx1"/>
          </a:solidFill>
          <a:latin typeface="+mn-lt"/>
          <a:ea typeface="+mn-ea"/>
          <a:cs typeface="+mn-cs"/>
        </a:defRPr>
      </a:lvl1pPr>
      <a:lvl2pPr marL="285750" algn="l" defTabSz="571500" rtl="0" eaLnBrk="1" latinLnBrk="0" hangingPunct="1">
        <a:defRPr sz="1125" kern="1200">
          <a:solidFill>
            <a:schemeClr val="tx1"/>
          </a:solidFill>
          <a:latin typeface="+mn-lt"/>
          <a:ea typeface="+mn-ea"/>
          <a:cs typeface="+mn-cs"/>
        </a:defRPr>
      </a:lvl2pPr>
      <a:lvl3pPr marL="571500" algn="l" defTabSz="571500" rtl="0" eaLnBrk="1" latinLnBrk="0" hangingPunct="1">
        <a:defRPr sz="1125" kern="1200">
          <a:solidFill>
            <a:schemeClr val="tx1"/>
          </a:solidFill>
          <a:latin typeface="+mn-lt"/>
          <a:ea typeface="+mn-ea"/>
          <a:cs typeface="+mn-cs"/>
        </a:defRPr>
      </a:lvl3pPr>
      <a:lvl4pPr marL="857250" algn="l" defTabSz="571500" rtl="0" eaLnBrk="1" latinLnBrk="0" hangingPunct="1">
        <a:defRPr sz="1125" kern="1200">
          <a:solidFill>
            <a:schemeClr val="tx1"/>
          </a:solidFill>
          <a:latin typeface="+mn-lt"/>
          <a:ea typeface="+mn-ea"/>
          <a:cs typeface="+mn-cs"/>
        </a:defRPr>
      </a:lvl4pPr>
      <a:lvl5pPr marL="1143000" algn="l" defTabSz="571500" rtl="0" eaLnBrk="1" latinLnBrk="0" hangingPunct="1">
        <a:defRPr sz="1125" kern="1200">
          <a:solidFill>
            <a:schemeClr val="tx1"/>
          </a:solidFill>
          <a:latin typeface="+mn-lt"/>
          <a:ea typeface="+mn-ea"/>
          <a:cs typeface="+mn-cs"/>
        </a:defRPr>
      </a:lvl5pPr>
      <a:lvl6pPr marL="1428750" algn="l" defTabSz="571500" rtl="0" eaLnBrk="1" latinLnBrk="0" hangingPunct="1">
        <a:defRPr sz="1125" kern="1200">
          <a:solidFill>
            <a:schemeClr val="tx1"/>
          </a:solidFill>
          <a:latin typeface="+mn-lt"/>
          <a:ea typeface="+mn-ea"/>
          <a:cs typeface="+mn-cs"/>
        </a:defRPr>
      </a:lvl6pPr>
      <a:lvl7pPr marL="1714500" algn="l" defTabSz="571500" rtl="0" eaLnBrk="1" latinLnBrk="0" hangingPunct="1">
        <a:defRPr sz="1125" kern="1200">
          <a:solidFill>
            <a:schemeClr val="tx1"/>
          </a:solidFill>
          <a:latin typeface="+mn-lt"/>
          <a:ea typeface="+mn-ea"/>
          <a:cs typeface="+mn-cs"/>
        </a:defRPr>
      </a:lvl7pPr>
      <a:lvl8pPr marL="2000250" algn="l" defTabSz="571500" rtl="0" eaLnBrk="1" latinLnBrk="0" hangingPunct="1">
        <a:defRPr sz="1125" kern="1200">
          <a:solidFill>
            <a:schemeClr val="tx1"/>
          </a:solidFill>
          <a:latin typeface="+mn-lt"/>
          <a:ea typeface="+mn-ea"/>
          <a:cs typeface="+mn-cs"/>
        </a:defRPr>
      </a:lvl8pPr>
      <a:lvl9pPr marL="2286000" algn="l" defTabSz="571500" rtl="0" eaLnBrk="1" latinLnBrk="0" hangingPunct="1">
        <a:defRPr sz="1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53"/>
        <p:cNvGrpSpPr/>
        <p:nvPr/>
      </p:nvGrpSpPr>
      <p:grpSpPr>
        <a:xfrm>
          <a:off x="0" y="0"/>
          <a:ext cx="0" cy="0"/>
          <a:chOff x="0" y="0"/>
          <a:chExt cx="0" cy="0"/>
        </a:xfrm>
      </p:grpSpPr>
      <p:sp>
        <p:nvSpPr>
          <p:cNvPr id="6" name="Rectangle 5">
            <a:extLst>
              <a:ext uri="{FF2B5EF4-FFF2-40B4-BE49-F238E27FC236}">
                <a16:creationId xmlns:a16="http://schemas.microsoft.com/office/drawing/2014/main" id="{B68E14D8-5E52-E9E5-DA68-FDDD594A41F4}"/>
              </a:ext>
            </a:extLst>
          </p:cNvPr>
          <p:cNvSpPr/>
          <p:nvPr/>
        </p:nvSpPr>
        <p:spPr>
          <a:xfrm>
            <a:off x="1548245" y="2077769"/>
            <a:ext cx="6619010" cy="689114"/>
          </a:xfrm>
          <a:prstGeom prst="rect">
            <a:avLst/>
          </a:prstGeom>
          <a:solidFill>
            <a:schemeClr val="bg1"/>
          </a:solidFill>
          <a:effectLst>
            <a:glow rad="228600">
              <a:schemeClr val="accent6">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300" b="1" dirty="0">
                <a:solidFill>
                  <a:srgbClr val="C00000"/>
                </a:solidFill>
                <a:latin typeface="Berlin Sans FB Demi" panose="020E0802020502020306" pitchFamily="34" charset="0"/>
                <a:cs typeface="Times New Roman" pitchFamily="18" charset="0"/>
              </a:rPr>
              <a:t>CLOUD COMPUTTING</a:t>
            </a:r>
            <a:endParaRPr lang="en-IN" sz="2300" b="1" dirty="0">
              <a:solidFill>
                <a:srgbClr val="C00000"/>
              </a:solidFill>
              <a:latin typeface="Berlin Sans FB Demi" panose="020E0802020502020306" pitchFamily="34" charset="0"/>
            </a:endParaRPr>
          </a:p>
        </p:txBody>
      </p:sp>
      <p:sp>
        <p:nvSpPr>
          <p:cNvPr id="7" name="TextBox 6">
            <a:extLst>
              <a:ext uri="{FF2B5EF4-FFF2-40B4-BE49-F238E27FC236}">
                <a16:creationId xmlns:a16="http://schemas.microsoft.com/office/drawing/2014/main" id="{B6F0803A-34DD-F6CA-F893-454CAA4C06B7}"/>
              </a:ext>
            </a:extLst>
          </p:cNvPr>
          <p:cNvSpPr txBox="1"/>
          <p:nvPr/>
        </p:nvSpPr>
        <p:spPr>
          <a:xfrm>
            <a:off x="793742" y="0"/>
            <a:ext cx="7809929" cy="1216487"/>
          </a:xfrm>
          <a:prstGeom prst="rect">
            <a:avLst/>
          </a:prstGeom>
          <a:noFill/>
        </p:spPr>
        <p:txBody>
          <a:bodyPr wrap="square">
            <a:spAutoFit/>
          </a:bodyPr>
          <a:lstStyle/>
          <a:p>
            <a:pPr indent="180340" algn="ctr">
              <a:lnSpc>
                <a:spcPct val="115000"/>
              </a:lnSpc>
              <a:spcBef>
                <a:spcPts val="900"/>
              </a:spcBef>
              <a:spcAft>
                <a:spcPts val="300"/>
              </a:spcAft>
            </a:pPr>
            <a:r>
              <a:rPr lang="en-IN" sz="2400" b="1" dirty="0">
                <a:latin typeface="Book Antiqua" pitchFamily="18" charset="0"/>
                <a:ea typeface="Calibri"/>
                <a:cs typeface="Times New Roman"/>
              </a:rPr>
              <a:t>E.G.S. Pillay Engineering College</a:t>
            </a:r>
          </a:p>
          <a:p>
            <a:pPr indent="270510" algn="ctr">
              <a:lnSpc>
                <a:spcPct val="115000"/>
              </a:lnSpc>
              <a:spcAft>
                <a:spcPts val="300"/>
              </a:spcAft>
            </a:pPr>
            <a:r>
              <a:rPr lang="en-IN" sz="1100" dirty="0">
                <a:latin typeface="Book Antiqua" pitchFamily="18" charset="0"/>
                <a:ea typeface="Calibri"/>
                <a:cs typeface="Times New Roman"/>
              </a:rPr>
              <a:t>An Autonomous Institution Affiliated to Anna University, Chennai | Approved by AICTE, New Delhi</a:t>
            </a:r>
            <a:endParaRPr lang="en-US" sz="1600" dirty="0">
              <a:latin typeface="Book Antiqua" pitchFamily="18" charset="0"/>
              <a:ea typeface="Calibri"/>
              <a:cs typeface="Times New Roman"/>
            </a:endParaRPr>
          </a:p>
          <a:p>
            <a:pPr indent="270510" algn="ctr">
              <a:lnSpc>
                <a:spcPct val="115000"/>
              </a:lnSpc>
              <a:spcAft>
                <a:spcPts val="300"/>
              </a:spcAft>
            </a:pPr>
            <a:r>
              <a:rPr lang="en-IN" sz="1100" dirty="0">
                <a:latin typeface="Book Antiqua" pitchFamily="18" charset="0"/>
                <a:ea typeface="Calibri"/>
                <a:cs typeface="Times New Roman"/>
              </a:rPr>
              <a:t>Accredited by NAAC with A++ Grade | Accredited by NBA T1 (B.E. – CIVIL,MECH,EEE,CSE,ECE &amp; </a:t>
            </a:r>
            <a:r>
              <a:rPr lang="en-IN" sz="1100" dirty="0" err="1">
                <a:latin typeface="Book Antiqua" pitchFamily="18" charset="0"/>
                <a:ea typeface="Calibri"/>
                <a:cs typeface="Times New Roman"/>
              </a:rPr>
              <a:t>B.Tech</a:t>
            </a:r>
            <a:r>
              <a:rPr lang="en-IN" sz="1100" dirty="0">
                <a:latin typeface="Book Antiqua" pitchFamily="18" charset="0"/>
                <a:ea typeface="Calibri"/>
                <a:cs typeface="Times New Roman"/>
              </a:rPr>
              <a:t> – IT)</a:t>
            </a:r>
            <a:endParaRPr lang="en-US" sz="1600" dirty="0">
              <a:latin typeface="Book Antiqua" pitchFamily="18" charset="0"/>
              <a:ea typeface="Calibri"/>
              <a:cs typeface="Times New Roman"/>
            </a:endParaRPr>
          </a:p>
          <a:p>
            <a:pPr indent="270510" algn="ctr">
              <a:lnSpc>
                <a:spcPct val="115000"/>
              </a:lnSpc>
              <a:spcAft>
                <a:spcPts val="300"/>
              </a:spcAft>
            </a:pPr>
            <a:r>
              <a:rPr lang="en-IN" sz="1100" dirty="0">
                <a:latin typeface="Book Antiqua" pitchFamily="18" charset="0"/>
                <a:ea typeface="Calibri"/>
                <a:cs typeface="Times New Roman"/>
              </a:rPr>
              <a:t>Old </a:t>
            </a:r>
            <a:r>
              <a:rPr lang="en-IN" sz="1100" dirty="0" err="1">
                <a:latin typeface="Book Antiqua" pitchFamily="18" charset="0"/>
                <a:ea typeface="Calibri"/>
                <a:cs typeface="Times New Roman"/>
              </a:rPr>
              <a:t>Nagore</a:t>
            </a:r>
            <a:r>
              <a:rPr lang="en-IN" sz="1100" dirty="0">
                <a:latin typeface="Book Antiqua" pitchFamily="18" charset="0"/>
                <a:ea typeface="Calibri"/>
                <a:cs typeface="Times New Roman"/>
              </a:rPr>
              <a:t> Road, </a:t>
            </a:r>
            <a:r>
              <a:rPr lang="en-IN" sz="1100" dirty="0" err="1">
                <a:latin typeface="Book Antiqua" pitchFamily="18" charset="0"/>
                <a:ea typeface="Calibri"/>
                <a:cs typeface="Times New Roman"/>
              </a:rPr>
              <a:t>Thethi</a:t>
            </a:r>
            <a:r>
              <a:rPr lang="en-IN" sz="1100" dirty="0">
                <a:latin typeface="Book Antiqua" pitchFamily="18" charset="0"/>
                <a:ea typeface="Calibri"/>
                <a:cs typeface="Times New Roman"/>
              </a:rPr>
              <a:t>, </a:t>
            </a:r>
            <a:r>
              <a:rPr lang="en-IN" sz="1100" dirty="0" err="1">
                <a:latin typeface="Book Antiqua" pitchFamily="18" charset="0"/>
                <a:ea typeface="Calibri"/>
                <a:cs typeface="Times New Roman"/>
              </a:rPr>
              <a:t>Nagore</a:t>
            </a:r>
            <a:r>
              <a:rPr lang="en-IN" sz="1100" dirty="0">
                <a:latin typeface="Book Antiqua" pitchFamily="18" charset="0"/>
                <a:ea typeface="Calibri"/>
                <a:cs typeface="Times New Roman"/>
              </a:rPr>
              <a:t> Village, </a:t>
            </a:r>
            <a:r>
              <a:rPr lang="en-IN" sz="1100" dirty="0" err="1">
                <a:latin typeface="Book Antiqua" pitchFamily="18" charset="0"/>
                <a:ea typeface="Calibri"/>
                <a:cs typeface="Times New Roman"/>
              </a:rPr>
              <a:t>Nagapattinam</a:t>
            </a:r>
            <a:r>
              <a:rPr lang="en-IN" sz="1100" dirty="0">
                <a:latin typeface="Book Antiqua" pitchFamily="18" charset="0"/>
                <a:ea typeface="Calibri"/>
                <a:cs typeface="Times New Roman"/>
              </a:rPr>
              <a:t> – 611002, Tamil Nadu, India</a:t>
            </a:r>
            <a:endParaRPr lang="en-US" sz="1600" dirty="0">
              <a:latin typeface="Book Antiqua" pitchFamily="18" charset="0"/>
              <a:ea typeface="Calibri"/>
              <a:cs typeface="Times New Roman"/>
            </a:endParaRPr>
          </a:p>
        </p:txBody>
      </p:sp>
      <p:sp>
        <p:nvSpPr>
          <p:cNvPr id="9" name="Rectangle: Rounded Corners 8">
            <a:extLst>
              <a:ext uri="{FF2B5EF4-FFF2-40B4-BE49-F238E27FC236}">
                <a16:creationId xmlns:a16="http://schemas.microsoft.com/office/drawing/2014/main" id="{A7A4F670-78CE-6272-5220-6AEA39AC8110}"/>
              </a:ext>
            </a:extLst>
          </p:cNvPr>
          <p:cNvSpPr/>
          <p:nvPr/>
        </p:nvSpPr>
        <p:spPr>
          <a:xfrm>
            <a:off x="1474572" y="3749777"/>
            <a:ext cx="5726242" cy="750179"/>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marL="0" indent="0" algn="ctr">
              <a:lnSpc>
                <a:spcPct val="95000"/>
              </a:lnSpc>
              <a:spcBef>
                <a:spcPts val="500"/>
              </a:spcBef>
              <a:buClr>
                <a:schemeClr val="dk1"/>
              </a:buClr>
              <a:buSzPts val="852"/>
            </a:pPr>
            <a:r>
              <a:rPr lang="en-US" sz="1400" dirty="0">
                <a:solidFill>
                  <a:schemeClr val="tx1"/>
                </a:solidFill>
                <a:latin typeface="Book Antiqua" panose="02040602050305030304" pitchFamily="18" charset="0"/>
                <a:cs typeface="Times New Roman" panose="02020603050405020304" pitchFamily="18" charset="0"/>
              </a:rPr>
              <a:t>Presented by,</a:t>
            </a:r>
          </a:p>
          <a:p>
            <a:pPr algn="ctr">
              <a:lnSpc>
                <a:spcPct val="95000"/>
              </a:lnSpc>
              <a:spcBef>
                <a:spcPts val="500"/>
              </a:spcBef>
              <a:buClr>
                <a:schemeClr val="dk1"/>
              </a:buClr>
              <a:buSzPts val="852"/>
            </a:pPr>
            <a:r>
              <a:rPr lang="en-US" b="1" dirty="0">
                <a:solidFill>
                  <a:schemeClr val="tx1"/>
                </a:solidFill>
                <a:latin typeface="Berlin Sans FB Demi" panose="020E0802020502020306" pitchFamily="34" charset="0"/>
                <a:cs typeface="Times New Roman" panose="02020603050405020304" pitchFamily="18" charset="0"/>
              </a:rPr>
              <a:t>NANTHAKUMAR.K</a:t>
            </a:r>
            <a:endParaRPr lang="en-IN" dirty="0">
              <a:latin typeface="Berlin Sans FB Demi" panose="020E0802020502020306" pitchFamily="34" charset="0"/>
            </a:endParaRPr>
          </a:p>
          <a:p>
            <a:pPr algn="ctr"/>
            <a:endParaRPr lang="en-IN" dirty="0"/>
          </a:p>
        </p:txBody>
      </p:sp>
      <p:pic>
        <p:nvPicPr>
          <p:cNvPr id="66561" name="Picture 1" descr="https://encrypted-tbn0.gstatic.com/images?q=tbn:ANd9GcQdAoy8HAYiGwgqBMeq0EtfxKBc5i9totR_W7yOXHEosxAvJ3u6k6r7MVNRo_M3U1QAJMc&amp;usqp=CAU"/>
          <p:cNvPicPr>
            <a:picLocks noChangeAspect="1" noChangeArrowheads="1"/>
          </p:cNvPicPr>
          <p:nvPr/>
        </p:nvPicPr>
        <p:blipFill>
          <a:blip r:embed="rId3"/>
          <a:srcRect/>
          <a:stretch>
            <a:fillRect/>
          </a:stretch>
        </p:blipFill>
        <p:spPr bwMode="auto">
          <a:xfrm>
            <a:off x="0" y="0"/>
            <a:ext cx="924791" cy="1079789"/>
          </a:xfrm>
          <a:prstGeom prst="rect">
            <a:avLst/>
          </a:prstGeom>
          <a:noFill/>
        </p:spPr>
      </p:pic>
      <p:sp>
        <p:nvSpPr>
          <p:cNvPr id="10" name="Google Shape;56;p1"/>
          <p:cNvSpPr/>
          <p:nvPr/>
        </p:nvSpPr>
        <p:spPr>
          <a:xfrm>
            <a:off x="2716447" y="2958189"/>
            <a:ext cx="3712875"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C00000"/>
                </a:solidFill>
                <a:latin typeface="Book Antiqua"/>
                <a:ea typeface="Book Antiqua"/>
                <a:cs typeface="Book Antiqua"/>
                <a:sym typeface="Book Antiqua"/>
              </a:rPr>
              <a:t>Date&amp; Session : </a:t>
            </a:r>
            <a:r>
              <a:rPr lang="en-US" b="1" dirty="0">
                <a:solidFill>
                  <a:srgbClr val="C00000"/>
                </a:solidFill>
                <a:latin typeface="Book Antiqua"/>
                <a:ea typeface="Book Antiqua"/>
                <a:cs typeface="Book Antiqua"/>
                <a:sym typeface="Book Antiqua"/>
              </a:rPr>
              <a:t>&amp;AN</a:t>
            </a:r>
            <a:endParaRPr dirty="0"/>
          </a:p>
          <a:p>
            <a:pPr marL="0" marR="0" lvl="0" indent="0" algn="ctr" rtl="0">
              <a:lnSpc>
                <a:spcPct val="100000"/>
              </a:lnSpc>
              <a:spcBef>
                <a:spcPts val="0"/>
              </a:spcBef>
              <a:spcAft>
                <a:spcPts val="0"/>
              </a:spcAft>
              <a:buNone/>
            </a:pPr>
            <a:r>
              <a:rPr lang="en-US" sz="1400" b="1" i="0" u="none" strike="noStrike" cap="none" dirty="0">
                <a:solidFill>
                  <a:srgbClr val="C00000"/>
                </a:solidFill>
                <a:latin typeface="Book Antiqua"/>
                <a:ea typeface="Book Antiqua"/>
                <a:cs typeface="Book Antiqua"/>
                <a:sym typeface="Book Antiqua"/>
              </a:rPr>
              <a:t>Venue: </a:t>
            </a:r>
            <a:r>
              <a:rPr lang="en-US" b="1" dirty="0">
                <a:solidFill>
                  <a:srgbClr val="C00000"/>
                </a:solidFill>
                <a:latin typeface="Book Antiqua"/>
                <a:ea typeface="Book Antiqua"/>
                <a:cs typeface="Book Antiqua"/>
                <a:sym typeface="Book Antiqua"/>
              </a:rPr>
              <a:t>SJB</a:t>
            </a:r>
            <a:endParaRPr sz="1400" b="0" i="0" u="none" strike="noStrike" cap="none" dirty="0">
              <a:solidFill>
                <a:srgbClr val="000000"/>
              </a:solidFill>
              <a:latin typeface="Book Antiqua"/>
              <a:ea typeface="Book Antiqua"/>
              <a:cs typeface="Book Antiqua"/>
              <a:sym typeface="Book Antiqua"/>
            </a:endParaRPr>
          </a:p>
        </p:txBody>
      </p:sp>
      <p:sp>
        <p:nvSpPr>
          <p:cNvPr id="12" name="Google Shape;53;p1"/>
          <p:cNvSpPr/>
          <p:nvPr/>
        </p:nvSpPr>
        <p:spPr>
          <a:xfrm>
            <a:off x="3023755" y="1402772"/>
            <a:ext cx="3221181" cy="445309"/>
          </a:xfrm>
          <a:prstGeom prst="rect">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dirty="0">
                <a:solidFill>
                  <a:schemeClr val="tx1"/>
                </a:solidFill>
                <a:latin typeface="MS Mincho" panose="02020609040205080304" pitchFamily="49" charset="-128"/>
                <a:ea typeface="MS Mincho" panose="02020609040205080304" pitchFamily="49" charset="-128"/>
                <a:cs typeface="Book Antiqua"/>
                <a:sym typeface="Book Antiqua"/>
              </a:rPr>
              <a:t>INFORMATION TECHNOLOGY</a:t>
            </a:r>
            <a:endParaRPr sz="2000" b="1" i="0" u="none" strike="noStrike" cap="none" dirty="0">
              <a:solidFill>
                <a:schemeClr val="tx1"/>
              </a:solidFill>
              <a:latin typeface="MS Mincho" panose="02020609040205080304" pitchFamily="49" charset="-128"/>
              <a:ea typeface="MS Mincho" panose="02020609040205080304" pitchFamily="49" charset="-128"/>
              <a:cs typeface="Book Antiqua"/>
              <a:sym typeface="Book Antiqua"/>
            </a:endParaRPr>
          </a:p>
        </p:txBody>
      </p:sp>
      <p:sp>
        <p:nvSpPr>
          <p:cNvPr id="8" name="Rectangle 7"/>
          <p:cNvSpPr/>
          <p:nvPr/>
        </p:nvSpPr>
        <p:spPr>
          <a:xfrm>
            <a:off x="4035635" y="2417862"/>
            <a:ext cx="184731" cy="307777"/>
          </a:xfrm>
          <a:prstGeom prst="rect">
            <a:avLst/>
          </a:prstGeom>
        </p:spPr>
        <p:txBody>
          <a:bodyPr wrap="none">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60"/>
        <p:cNvGrpSpPr/>
        <p:nvPr/>
      </p:nvGrpSpPr>
      <p:grpSpPr>
        <a:xfrm>
          <a:off x="0" y="0"/>
          <a:ext cx="0" cy="0"/>
          <a:chOff x="0" y="0"/>
          <a:chExt cx="0" cy="0"/>
        </a:xfrm>
      </p:grpSpPr>
      <p:sp>
        <p:nvSpPr>
          <p:cNvPr id="4" name="Google Shape;61;p14">
            <a:extLst>
              <a:ext uri="{FF2B5EF4-FFF2-40B4-BE49-F238E27FC236}">
                <a16:creationId xmlns:a16="http://schemas.microsoft.com/office/drawing/2014/main" id="{DD27225B-FE4F-D45A-0367-DD3D46300FD2}"/>
              </a:ext>
            </a:extLst>
          </p:cNvPr>
          <p:cNvSpPr txBox="1">
            <a:spLocks/>
          </p:cNvSpPr>
          <p:nvPr/>
        </p:nvSpPr>
        <p:spPr>
          <a:xfrm>
            <a:off x="0" y="1925"/>
            <a:ext cx="914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 sz="2300" dirty="0">
                <a:solidFill>
                  <a:schemeClr val="accent1">
                    <a:lumMod val="75000"/>
                  </a:schemeClr>
                </a:solidFill>
                <a:latin typeface="Book Antiqua" panose="02040602050305030304" pitchFamily="18" charset="0"/>
                <a:cs typeface="Times New Roman" pitchFamily="18" charset="0"/>
              </a:rPr>
              <a:t>Outline of the Presentation</a:t>
            </a:r>
            <a:endParaRPr lang="en-IN" sz="2300" dirty="0">
              <a:solidFill>
                <a:schemeClr val="accent1">
                  <a:lumMod val="75000"/>
                </a:schemeClr>
              </a:solidFill>
              <a:latin typeface="Book Antiqua" panose="02040602050305030304" pitchFamily="18" charset="0"/>
              <a:cs typeface="Times New Roman" pitchFamily="18" charset="0"/>
            </a:endParaRPr>
          </a:p>
        </p:txBody>
      </p:sp>
      <p:sp>
        <p:nvSpPr>
          <p:cNvPr id="5" name="Text Placeholder 4">
            <a:extLst>
              <a:ext uri="{FF2B5EF4-FFF2-40B4-BE49-F238E27FC236}">
                <a16:creationId xmlns:a16="http://schemas.microsoft.com/office/drawing/2014/main" id="{D2D54A25-CBB1-EAB5-5EB6-CF9BF2368DEB}"/>
              </a:ext>
            </a:extLst>
          </p:cNvPr>
          <p:cNvSpPr>
            <a:spLocks noGrp="1"/>
          </p:cNvSpPr>
          <p:nvPr>
            <p:ph type="body" idx="1"/>
          </p:nvPr>
        </p:nvSpPr>
        <p:spPr>
          <a:xfrm>
            <a:off x="311700" y="798424"/>
            <a:ext cx="8520600" cy="3929603"/>
          </a:xfrm>
        </p:spPr>
        <p:txBody>
          <a:bodyPr>
            <a:normAutofit fontScale="85000" lnSpcReduction="10000"/>
          </a:bodyPr>
          <a:lstStyle/>
          <a:p>
            <a:pPr marL="114300" indent="0">
              <a:lnSpc>
                <a:spcPct val="150000"/>
              </a:lnSpc>
              <a:buClr>
                <a:schemeClr val="tx1"/>
              </a:buClr>
              <a:buNone/>
            </a:pPr>
            <a:r>
              <a:rPr lang="en-US" dirty="0">
                <a:solidFill>
                  <a:schemeClr val="tx1"/>
                </a:solidFill>
                <a:latin typeface="Book Antiqua" panose="02040602050305030304" pitchFamily="18" charset="0"/>
              </a:rPr>
              <a:t>                     Abstract</a:t>
            </a:r>
          </a:p>
          <a:p>
            <a:pPr marL="114300" indent="0">
              <a:lnSpc>
                <a:spcPct val="150000"/>
              </a:lnSpc>
              <a:buClr>
                <a:schemeClr val="tx1"/>
              </a:buClr>
              <a:buNone/>
            </a:pPr>
            <a:r>
              <a:rPr lang="en-US" dirty="0">
                <a:solidFill>
                  <a:schemeClr val="tx1"/>
                </a:solidFill>
                <a:latin typeface="Book Antiqua" panose="02040602050305030304" pitchFamily="18" charset="0"/>
              </a:rPr>
              <a:t>                       Introduction</a:t>
            </a:r>
          </a:p>
          <a:p>
            <a:pPr marL="114300" indent="0">
              <a:lnSpc>
                <a:spcPct val="150000"/>
              </a:lnSpc>
              <a:buClr>
                <a:schemeClr val="tx1"/>
              </a:buClr>
              <a:buNone/>
            </a:pPr>
            <a:r>
              <a:rPr lang="en-US" dirty="0">
                <a:solidFill>
                  <a:schemeClr val="tx1"/>
                </a:solidFill>
                <a:latin typeface="Book Antiqua" panose="02040602050305030304" pitchFamily="18" charset="0"/>
              </a:rPr>
              <a:t>                           Literature reviews </a:t>
            </a:r>
          </a:p>
          <a:p>
            <a:pPr marL="114300" indent="0">
              <a:lnSpc>
                <a:spcPct val="150000"/>
              </a:lnSpc>
              <a:buClr>
                <a:schemeClr val="tx1"/>
              </a:buClr>
              <a:buNone/>
            </a:pPr>
            <a:r>
              <a:rPr lang="en-US" dirty="0">
                <a:solidFill>
                  <a:schemeClr val="tx1"/>
                </a:solidFill>
                <a:latin typeface="Book Antiqua" panose="02040602050305030304" pitchFamily="18" charset="0"/>
              </a:rPr>
              <a:t>                            Need for the study</a:t>
            </a:r>
          </a:p>
          <a:p>
            <a:pPr marL="114300" indent="0">
              <a:lnSpc>
                <a:spcPct val="150000"/>
              </a:lnSpc>
              <a:buClr>
                <a:schemeClr val="tx1"/>
              </a:buClr>
              <a:buNone/>
            </a:pPr>
            <a:r>
              <a:rPr lang="en-US" dirty="0">
                <a:solidFill>
                  <a:schemeClr val="tx1"/>
                </a:solidFill>
                <a:latin typeface="Book Antiqua" panose="02040602050305030304" pitchFamily="18" charset="0"/>
              </a:rPr>
              <a:t>                           </a:t>
            </a:r>
          </a:p>
          <a:p>
            <a:pPr marL="114300" indent="0">
              <a:lnSpc>
                <a:spcPct val="150000"/>
              </a:lnSpc>
              <a:buClr>
                <a:schemeClr val="tx1"/>
              </a:buClr>
              <a:buNone/>
            </a:pPr>
            <a:r>
              <a:rPr lang="en-US" dirty="0">
                <a:solidFill>
                  <a:schemeClr val="tx1"/>
                </a:solidFill>
                <a:latin typeface="Book Antiqua" panose="02040602050305030304" pitchFamily="18" charset="0"/>
              </a:rPr>
              <a:t>                                                                               </a:t>
            </a:r>
          </a:p>
          <a:p>
            <a:pPr marL="114300" indent="0">
              <a:lnSpc>
                <a:spcPct val="150000"/>
              </a:lnSpc>
              <a:buClr>
                <a:schemeClr val="tx1"/>
              </a:buClr>
              <a:buNone/>
            </a:pPr>
            <a:r>
              <a:rPr lang="en-US" dirty="0">
                <a:solidFill>
                  <a:schemeClr val="tx1"/>
                </a:solidFill>
                <a:latin typeface="Book Antiqua" panose="02040602050305030304" pitchFamily="18" charset="0"/>
              </a:rPr>
              <a:t>                                                                  Problem statement &amp; Objectives   </a:t>
            </a:r>
          </a:p>
          <a:p>
            <a:pPr marL="114300" indent="0">
              <a:lnSpc>
                <a:spcPct val="150000"/>
              </a:lnSpc>
              <a:buClr>
                <a:schemeClr val="tx1"/>
              </a:buClr>
              <a:buNone/>
            </a:pPr>
            <a:r>
              <a:rPr lang="en-US" dirty="0">
                <a:solidFill>
                  <a:schemeClr val="tx1"/>
                </a:solidFill>
                <a:latin typeface="Book Antiqua" panose="02040602050305030304" pitchFamily="18" charset="0"/>
              </a:rPr>
              <a:t>                                                                                Methodology Flowchart </a:t>
            </a:r>
          </a:p>
          <a:p>
            <a:pPr marL="114300" indent="0">
              <a:lnSpc>
                <a:spcPct val="150000"/>
              </a:lnSpc>
              <a:buClr>
                <a:schemeClr val="tx1"/>
              </a:buClr>
              <a:buNone/>
            </a:pPr>
            <a:r>
              <a:rPr lang="en-US" dirty="0">
                <a:solidFill>
                  <a:schemeClr val="tx1"/>
                </a:solidFill>
                <a:latin typeface="Book Antiqua" panose="02040602050305030304" pitchFamily="18" charset="0"/>
              </a:rPr>
              <a:t>                                                                                  Results (If implemented)</a:t>
            </a:r>
          </a:p>
          <a:p>
            <a:pPr marL="114300" indent="0">
              <a:lnSpc>
                <a:spcPct val="150000"/>
              </a:lnSpc>
              <a:buClr>
                <a:schemeClr val="tx1"/>
              </a:buClr>
              <a:buNone/>
            </a:pPr>
            <a:r>
              <a:rPr lang="en-US" dirty="0">
                <a:solidFill>
                  <a:schemeClr val="tx1"/>
                </a:solidFill>
                <a:latin typeface="Book Antiqua" panose="02040602050305030304" pitchFamily="18" charset="0"/>
              </a:rPr>
              <a:t>                                                                                                                References</a:t>
            </a: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IN" dirty="0"/>
          </a:p>
        </p:txBody>
      </p:sp>
      <p:sp>
        <p:nvSpPr>
          <p:cNvPr id="3" name="Slide Number Placeholder 2">
            <a:extLst>
              <a:ext uri="{FF2B5EF4-FFF2-40B4-BE49-F238E27FC236}">
                <a16:creationId xmlns:a16="http://schemas.microsoft.com/office/drawing/2014/main" id="{F8A90BB3-869F-AD9A-6578-82D8EB1D6125}"/>
              </a:ext>
            </a:extLst>
          </p:cNvPr>
          <p:cNvSpPr>
            <a:spLocks noGrp="1"/>
          </p:cNvSpPr>
          <p:nvPr>
            <p:ph type="sldNum" idx="12"/>
          </p:nvPr>
        </p:nvSpPr>
        <p:spPr>
          <a:xfrm>
            <a:off x="8621542" y="4794022"/>
            <a:ext cx="548700" cy="393600"/>
          </a:xfrm>
        </p:spPr>
        <p:txBody>
          <a:bodyPr>
            <a:normAutofit fontScale="85000" lnSpcReduction="1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r>
              <a:rPr lang="en" dirty="0"/>
              <a:t>/13</a:t>
            </a:r>
          </a:p>
        </p:txBody>
      </p:sp>
      <p:sp>
        <p:nvSpPr>
          <p:cNvPr id="10" name="TextBox 9">
            <a:extLst>
              <a:ext uri="{FF2B5EF4-FFF2-40B4-BE49-F238E27FC236}">
                <a16:creationId xmlns:a16="http://schemas.microsoft.com/office/drawing/2014/main" id="{F54E66A9-2AEF-93A5-8A3B-30E2294B1437}"/>
              </a:ext>
            </a:extLst>
          </p:cNvPr>
          <p:cNvSpPr txBox="1"/>
          <p:nvPr/>
        </p:nvSpPr>
        <p:spPr>
          <a:xfrm>
            <a:off x="0" y="4860017"/>
            <a:ext cx="837082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
        <p:nvSpPr>
          <p:cNvPr id="7" name="Flowchart: Connector 6">
            <a:extLst>
              <a:ext uri="{FF2B5EF4-FFF2-40B4-BE49-F238E27FC236}">
                <a16:creationId xmlns:a16="http://schemas.microsoft.com/office/drawing/2014/main" id="{3E514DD1-72ED-C4D4-5CD3-97FD88E428CE}"/>
              </a:ext>
            </a:extLst>
          </p:cNvPr>
          <p:cNvSpPr/>
          <p:nvPr/>
        </p:nvSpPr>
        <p:spPr>
          <a:xfrm>
            <a:off x="7791261" y="686523"/>
            <a:ext cx="2705477" cy="4153403"/>
          </a:xfrm>
          <a:prstGeom prst="flowChartConnector">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32998BE1-44B4-5FF8-D559-260C04B8F605}"/>
              </a:ext>
            </a:extLst>
          </p:cNvPr>
          <p:cNvSpPr/>
          <p:nvPr/>
        </p:nvSpPr>
        <p:spPr>
          <a:xfrm>
            <a:off x="-1352739" y="751760"/>
            <a:ext cx="2705477" cy="4153403"/>
          </a:xfrm>
          <a:prstGeom prst="flowChartConnector">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pic>
        <p:nvPicPr>
          <p:cNvPr id="15" name="Picture 14">
            <a:extLst>
              <a:ext uri="{FF2B5EF4-FFF2-40B4-BE49-F238E27FC236}">
                <a16:creationId xmlns:a16="http://schemas.microsoft.com/office/drawing/2014/main" id="{7F6D5141-5AB5-77F3-0137-6855E6A735EB}"/>
              </a:ext>
            </a:extLst>
          </p:cNvPr>
          <p:cNvPicPr>
            <a:picLocks noChangeAspect="1"/>
          </p:cNvPicPr>
          <p:nvPr/>
        </p:nvPicPr>
        <p:blipFill>
          <a:blip r:embed="rId3"/>
          <a:stretch>
            <a:fillRect/>
          </a:stretch>
        </p:blipFill>
        <p:spPr>
          <a:xfrm rot="16200000">
            <a:off x="470497" y="781930"/>
            <a:ext cx="519293" cy="564169"/>
          </a:xfrm>
          <a:prstGeom prst="rect">
            <a:avLst/>
          </a:prstGeom>
        </p:spPr>
      </p:pic>
      <p:pic>
        <p:nvPicPr>
          <p:cNvPr id="20" name="Picture 19">
            <a:extLst>
              <a:ext uri="{FF2B5EF4-FFF2-40B4-BE49-F238E27FC236}">
                <a16:creationId xmlns:a16="http://schemas.microsoft.com/office/drawing/2014/main" id="{937B15DE-4098-A648-99EC-F51ADA879882}"/>
              </a:ext>
            </a:extLst>
          </p:cNvPr>
          <p:cNvPicPr>
            <a:picLocks noChangeAspect="1"/>
          </p:cNvPicPr>
          <p:nvPr/>
        </p:nvPicPr>
        <p:blipFill>
          <a:blip r:embed="rId3"/>
          <a:stretch>
            <a:fillRect/>
          </a:stretch>
        </p:blipFill>
        <p:spPr>
          <a:xfrm rot="16200000">
            <a:off x="668140" y="1126627"/>
            <a:ext cx="519293" cy="564169"/>
          </a:xfrm>
          <a:prstGeom prst="rect">
            <a:avLst/>
          </a:prstGeom>
        </p:spPr>
      </p:pic>
      <p:pic>
        <p:nvPicPr>
          <p:cNvPr id="21" name="Picture 20">
            <a:extLst>
              <a:ext uri="{FF2B5EF4-FFF2-40B4-BE49-F238E27FC236}">
                <a16:creationId xmlns:a16="http://schemas.microsoft.com/office/drawing/2014/main" id="{39794F8A-D95E-0892-2950-6282CA68D6F0}"/>
              </a:ext>
            </a:extLst>
          </p:cNvPr>
          <p:cNvPicPr>
            <a:picLocks noChangeAspect="1"/>
          </p:cNvPicPr>
          <p:nvPr/>
        </p:nvPicPr>
        <p:blipFill>
          <a:blip r:embed="rId3"/>
          <a:stretch>
            <a:fillRect/>
          </a:stretch>
        </p:blipFill>
        <p:spPr>
          <a:xfrm rot="16200000">
            <a:off x="817158" y="1516054"/>
            <a:ext cx="519293" cy="564169"/>
          </a:xfrm>
          <a:prstGeom prst="rect">
            <a:avLst/>
          </a:prstGeom>
        </p:spPr>
      </p:pic>
      <p:pic>
        <p:nvPicPr>
          <p:cNvPr id="22" name="Picture 21">
            <a:extLst>
              <a:ext uri="{FF2B5EF4-FFF2-40B4-BE49-F238E27FC236}">
                <a16:creationId xmlns:a16="http://schemas.microsoft.com/office/drawing/2014/main" id="{DA3B7D7F-B485-C492-C7C9-4E2056B869BF}"/>
              </a:ext>
            </a:extLst>
          </p:cNvPr>
          <p:cNvPicPr>
            <a:picLocks noChangeAspect="1"/>
          </p:cNvPicPr>
          <p:nvPr/>
        </p:nvPicPr>
        <p:blipFill>
          <a:blip r:embed="rId3"/>
          <a:stretch>
            <a:fillRect/>
          </a:stretch>
        </p:blipFill>
        <p:spPr>
          <a:xfrm rot="16200000">
            <a:off x="948011" y="1959270"/>
            <a:ext cx="519293" cy="564169"/>
          </a:xfrm>
          <a:prstGeom prst="rect">
            <a:avLst/>
          </a:prstGeom>
        </p:spPr>
      </p:pic>
      <p:cxnSp>
        <p:nvCxnSpPr>
          <p:cNvPr id="26" name="Straight Connector 25">
            <a:extLst>
              <a:ext uri="{FF2B5EF4-FFF2-40B4-BE49-F238E27FC236}">
                <a16:creationId xmlns:a16="http://schemas.microsoft.com/office/drawing/2014/main" id="{35BD1D9E-A645-3118-960F-EE534E5172FD}"/>
              </a:ext>
            </a:extLst>
          </p:cNvPr>
          <p:cNvCxnSpPr>
            <a:cxnSpLocks/>
            <a:stCxn id="15" idx="2"/>
          </p:cNvCxnSpPr>
          <p:nvPr/>
        </p:nvCxnSpPr>
        <p:spPr>
          <a:xfrm>
            <a:off x="1012228" y="1064014"/>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25A018A-560A-BA78-5377-C3E39A24656B}"/>
              </a:ext>
            </a:extLst>
          </p:cNvPr>
          <p:cNvCxnSpPr>
            <a:cxnSpLocks/>
          </p:cNvCxnSpPr>
          <p:nvPr/>
        </p:nvCxnSpPr>
        <p:spPr>
          <a:xfrm>
            <a:off x="1208064" y="1421014"/>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5795F59-7EE6-102A-49EA-03A2455F15F5}"/>
              </a:ext>
            </a:extLst>
          </p:cNvPr>
          <p:cNvCxnSpPr>
            <a:cxnSpLocks/>
          </p:cNvCxnSpPr>
          <p:nvPr/>
        </p:nvCxnSpPr>
        <p:spPr>
          <a:xfrm>
            <a:off x="1326616" y="1787381"/>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6658BA5-D5B3-5629-7C0F-26BECDD76FF4}"/>
              </a:ext>
            </a:extLst>
          </p:cNvPr>
          <p:cNvCxnSpPr>
            <a:cxnSpLocks/>
          </p:cNvCxnSpPr>
          <p:nvPr/>
        </p:nvCxnSpPr>
        <p:spPr>
          <a:xfrm>
            <a:off x="1438928" y="2175335"/>
            <a:ext cx="418626" cy="0"/>
          </a:xfrm>
          <a:prstGeom prst="line">
            <a:avLst/>
          </a:prstGeom>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B9368F76-915D-0AE2-EDF0-AB91137A7208}"/>
              </a:ext>
            </a:extLst>
          </p:cNvPr>
          <p:cNvPicPr>
            <a:picLocks noChangeAspect="1"/>
          </p:cNvPicPr>
          <p:nvPr/>
        </p:nvPicPr>
        <p:blipFill>
          <a:blip r:embed="rId3"/>
          <a:stretch>
            <a:fillRect/>
          </a:stretch>
        </p:blipFill>
        <p:spPr>
          <a:xfrm rot="5828441">
            <a:off x="7611111" y="2961877"/>
            <a:ext cx="519293" cy="564169"/>
          </a:xfrm>
          <a:prstGeom prst="rect">
            <a:avLst/>
          </a:prstGeom>
        </p:spPr>
      </p:pic>
      <p:pic>
        <p:nvPicPr>
          <p:cNvPr id="34" name="Picture 33">
            <a:extLst>
              <a:ext uri="{FF2B5EF4-FFF2-40B4-BE49-F238E27FC236}">
                <a16:creationId xmlns:a16="http://schemas.microsoft.com/office/drawing/2014/main" id="{5BCC2506-B6E9-C055-3691-2B0CF505F179}"/>
              </a:ext>
            </a:extLst>
          </p:cNvPr>
          <p:cNvPicPr>
            <a:picLocks noChangeAspect="1"/>
          </p:cNvPicPr>
          <p:nvPr/>
        </p:nvPicPr>
        <p:blipFill>
          <a:blip r:embed="rId3"/>
          <a:stretch>
            <a:fillRect/>
          </a:stretch>
        </p:blipFill>
        <p:spPr>
          <a:xfrm rot="5729133">
            <a:off x="7667963" y="3316962"/>
            <a:ext cx="519293" cy="564169"/>
          </a:xfrm>
          <a:prstGeom prst="rect">
            <a:avLst/>
          </a:prstGeom>
        </p:spPr>
      </p:pic>
      <p:pic>
        <p:nvPicPr>
          <p:cNvPr id="35" name="Picture 34">
            <a:extLst>
              <a:ext uri="{FF2B5EF4-FFF2-40B4-BE49-F238E27FC236}">
                <a16:creationId xmlns:a16="http://schemas.microsoft.com/office/drawing/2014/main" id="{D3297DFC-5666-7947-6AF5-BAE9452E0F6A}"/>
              </a:ext>
            </a:extLst>
          </p:cNvPr>
          <p:cNvPicPr>
            <a:picLocks noChangeAspect="1"/>
          </p:cNvPicPr>
          <p:nvPr/>
        </p:nvPicPr>
        <p:blipFill>
          <a:blip r:embed="rId3"/>
          <a:stretch>
            <a:fillRect/>
          </a:stretch>
        </p:blipFill>
        <p:spPr>
          <a:xfrm rot="5805064">
            <a:off x="7800521" y="3698054"/>
            <a:ext cx="519293" cy="564169"/>
          </a:xfrm>
          <a:prstGeom prst="rect">
            <a:avLst/>
          </a:prstGeom>
        </p:spPr>
      </p:pic>
      <p:pic>
        <p:nvPicPr>
          <p:cNvPr id="36" name="Picture 35">
            <a:extLst>
              <a:ext uri="{FF2B5EF4-FFF2-40B4-BE49-F238E27FC236}">
                <a16:creationId xmlns:a16="http://schemas.microsoft.com/office/drawing/2014/main" id="{9ACB183F-9959-DE69-EE3F-D3DA19C7C1D4}"/>
              </a:ext>
            </a:extLst>
          </p:cNvPr>
          <p:cNvPicPr>
            <a:picLocks noChangeAspect="1"/>
          </p:cNvPicPr>
          <p:nvPr/>
        </p:nvPicPr>
        <p:blipFill>
          <a:blip r:embed="rId3"/>
          <a:stretch>
            <a:fillRect/>
          </a:stretch>
        </p:blipFill>
        <p:spPr>
          <a:xfrm rot="6379517">
            <a:off x="8063925" y="4062991"/>
            <a:ext cx="519293" cy="564169"/>
          </a:xfrm>
          <a:prstGeom prst="rect">
            <a:avLst/>
          </a:prstGeom>
        </p:spPr>
      </p:pic>
      <p:cxnSp>
        <p:nvCxnSpPr>
          <p:cNvPr id="37" name="Straight Connector 36">
            <a:extLst>
              <a:ext uri="{FF2B5EF4-FFF2-40B4-BE49-F238E27FC236}">
                <a16:creationId xmlns:a16="http://schemas.microsoft.com/office/drawing/2014/main" id="{571A2836-6781-EA4B-8659-E7E03C04738F}"/>
              </a:ext>
            </a:extLst>
          </p:cNvPr>
          <p:cNvCxnSpPr>
            <a:cxnSpLocks/>
          </p:cNvCxnSpPr>
          <p:nvPr/>
        </p:nvCxnSpPr>
        <p:spPr>
          <a:xfrm>
            <a:off x="7648599" y="4345075"/>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0B1DB8A-EE4A-51D4-A348-E19A949D3F87}"/>
              </a:ext>
            </a:extLst>
          </p:cNvPr>
          <p:cNvCxnSpPr>
            <a:cxnSpLocks/>
          </p:cNvCxnSpPr>
          <p:nvPr/>
        </p:nvCxnSpPr>
        <p:spPr>
          <a:xfrm>
            <a:off x="7191964" y="3271353"/>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851B431-B6EC-E1E7-1EDE-6B86A141A695}"/>
              </a:ext>
            </a:extLst>
          </p:cNvPr>
          <p:cNvCxnSpPr>
            <a:cxnSpLocks/>
          </p:cNvCxnSpPr>
          <p:nvPr/>
        </p:nvCxnSpPr>
        <p:spPr>
          <a:xfrm>
            <a:off x="7229973" y="3615876"/>
            <a:ext cx="4186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11D947B-BE13-28C7-2015-3BB557EC1637}"/>
              </a:ext>
            </a:extLst>
          </p:cNvPr>
          <p:cNvCxnSpPr>
            <a:cxnSpLocks/>
          </p:cNvCxnSpPr>
          <p:nvPr/>
        </p:nvCxnSpPr>
        <p:spPr>
          <a:xfrm>
            <a:off x="7415865" y="4016606"/>
            <a:ext cx="418626" cy="0"/>
          </a:xfrm>
          <a:prstGeom prst="line">
            <a:avLst/>
          </a:prstGeom>
        </p:spPr>
        <p:style>
          <a:lnRef idx="1">
            <a:schemeClr val="accent1"/>
          </a:lnRef>
          <a:fillRef idx="0">
            <a:schemeClr val="accent1"/>
          </a:fillRef>
          <a:effectRef idx="0">
            <a:schemeClr val="accent1"/>
          </a:effectRef>
          <a:fontRef idx="minor">
            <a:schemeClr val="tx1"/>
          </a:fontRef>
        </p:style>
      </p:cxnSp>
      <p:pic>
        <p:nvPicPr>
          <p:cNvPr id="42" name="Picture 1" descr="https://encrypted-tbn0.gstatic.com/images?q=tbn:ANd9GcQdAoy8HAYiGwgqBMeq0EtfxKBc5i9totR_W7yOXHEosxAvJ3u6k6r7MVNRo_M3U1QAJMc&amp;usqp=CAU"/>
          <p:cNvPicPr>
            <a:picLocks noChangeAspect="1" noChangeArrowheads="1"/>
          </p:cNvPicPr>
          <p:nvPr/>
        </p:nvPicPr>
        <p:blipFill>
          <a:blip r:embed="rId4"/>
          <a:srcRect/>
          <a:stretch>
            <a:fillRect/>
          </a:stretch>
        </p:blipFill>
        <p:spPr bwMode="auto">
          <a:xfrm>
            <a:off x="0" y="0"/>
            <a:ext cx="805873" cy="773318"/>
          </a:xfrm>
          <a:prstGeom prst="rect">
            <a:avLst/>
          </a:prstGeom>
          <a:noFill/>
        </p:spPr>
      </p:pic>
      <p:sp>
        <p:nvSpPr>
          <p:cNvPr id="25" name="Rectangle 24"/>
          <p:cNvSpPr/>
          <p:nvPr/>
        </p:nvSpPr>
        <p:spPr>
          <a:xfrm>
            <a:off x="905435" y="4389807"/>
            <a:ext cx="7826188" cy="523220"/>
          </a:xfrm>
          <a:prstGeom prst="rect">
            <a:avLst/>
          </a:prstGeom>
        </p:spPr>
        <p:txBody>
          <a:bodyPr wrap="square">
            <a:spAutoFit/>
          </a:bodyPr>
          <a:lstStyle/>
          <a:p>
            <a:r>
              <a:rPr lang="en-US" b="1" i="1" dirty="0">
                <a:solidFill>
                  <a:srgbClr val="FF0000"/>
                </a:solidFill>
              </a:rPr>
              <a:t>NOTE : Get your presentation file verified by your guide before seminar </a:t>
            </a:r>
            <a:r>
              <a:rPr lang="en-US" b="1" i="1">
                <a:solidFill>
                  <a:srgbClr val="FF0000"/>
                </a:solidFill>
              </a:rPr>
              <a:t>,well in </a:t>
            </a:r>
            <a:r>
              <a:rPr lang="en-US" b="1" i="1" dirty="0">
                <a:solidFill>
                  <a:srgbClr val="FF0000"/>
                </a:solidFill>
              </a:rPr>
              <a:t>advance, so that necessary changes can be incorporated.</a:t>
            </a:r>
            <a:endParaRPr lang="en-US" b="1" dirty="0">
              <a:solidFill>
                <a:srgbClr val="FF0000"/>
              </a:solidFill>
            </a:endParaRPr>
          </a:p>
        </p:txBody>
      </p:sp>
    </p:spTree>
    <p:extLst>
      <p:ext uri="{BB962C8B-B14F-4D97-AF65-F5344CB8AC3E}">
        <p14:creationId xmlns:p14="http://schemas.microsoft.com/office/powerpoint/2010/main" val="21627073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FC4D1-9B9F-818E-2117-2D81CC4F1E0D}"/>
              </a:ext>
            </a:extLst>
          </p:cNvPr>
          <p:cNvSpPr>
            <a:spLocks noGrp="1"/>
          </p:cNvSpPr>
          <p:nvPr>
            <p:ph type="title"/>
          </p:nvPr>
        </p:nvSpPr>
        <p:spPr/>
        <p:txBody>
          <a:bodyPr>
            <a:normAutofit fontScale="90000"/>
          </a:bodyPr>
          <a:lstStyle/>
          <a:p>
            <a:r>
              <a:rPr lang="en-US" dirty="0"/>
              <a:t>result</a:t>
            </a:r>
          </a:p>
        </p:txBody>
      </p:sp>
      <p:sp>
        <p:nvSpPr>
          <p:cNvPr id="4" name="Slide Number Placeholder 3">
            <a:extLst>
              <a:ext uri="{FF2B5EF4-FFF2-40B4-BE49-F238E27FC236}">
                <a16:creationId xmlns:a16="http://schemas.microsoft.com/office/drawing/2014/main" id="{840916F4-C0CF-8ABD-A0DD-A766C725E27B}"/>
              </a:ext>
            </a:extLst>
          </p:cNvPr>
          <p:cNvSpPr>
            <a:spLocks noGrp="1"/>
          </p:cNvSpPr>
          <p:nvPr>
            <p:ph type="sldNum" idx="12"/>
          </p:nvPr>
        </p:nvSpPr>
        <p:spPr/>
        <p:txBody>
          <a:bodyPr>
            <a:normAutofit fontScale="9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
        <p:nvSpPr>
          <p:cNvPr id="5" name="Rectangle 1">
            <a:extLst>
              <a:ext uri="{FF2B5EF4-FFF2-40B4-BE49-F238E27FC236}">
                <a16:creationId xmlns:a16="http://schemas.microsoft.com/office/drawing/2014/main" id="{18CA9581-AF84-C094-AF27-E60CC6E6D7C7}"/>
              </a:ext>
            </a:extLst>
          </p:cNvPr>
          <p:cNvSpPr>
            <a:spLocks noGrp="1" noChangeArrowheads="1"/>
          </p:cNvSpPr>
          <p:nvPr>
            <p:ph type="body" idx="1"/>
          </p:nvPr>
        </p:nvSpPr>
        <p:spPr bwMode="auto">
          <a:xfrm>
            <a:off x="0" y="1608627"/>
            <a:ext cx="1095248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Cloud computing reduces the need for expensive hardware and maintenance.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allows users to access data and applications from anywhere using the internet.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Scalability helps organizations easily increase or decrease resources as needed.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backup and recovery are faster and more reliable in the cloud.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Cloud computing improves collaboration and efficiency for users and businesses.</a:t>
            </a:r>
          </a:p>
        </p:txBody>
      </p:sp>
    </p:spTree>
    <p:extLst>
      <p:ext uri="{BB962C8B-B14F-4D97-AF65-F5344CB8AC3E}">
        <p14:creationId xmlns:p14="http://schemas.microsoft.com/office/powerpoint/2010/main" val="911072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E76B-C395-48BC-4D80-2E226607B27D}"/>
              </a:ext>
            </a:extLst>
          </p:cNvPr>
          <p:cNvSpPr>
            <a:spLocks noGrp="1"/>
          </p:cNvSpPr>
          <p:nvPr>
            <p:ph type="title"/>
          </p:nvPr>
        </p:nvSpPr>
        <p:spPr>
          <a:xfrm>
            <a:off x="311700" y="-152399"/>
            <a:ext cx="8520600" cy="1112170"/>
          </a:xfrm>
        </p:spPr>
        <p:txBody>
          <a:bodyPr>
            <a:normAutofit/>
          </a:bodyPr>
          <a:lstStyle/>
          <a:p>
            <a:r>
              <a:rPr lang="en-US" dirty="0"/>
              <a:t>Need of study</a:t>
            </a:r>
            <a:br>
              <a:rPr lang="en-US" dirty="0"/>
            </a:br>
            <a:endParaRPr lang="en-US" dirty="0"/>
          </a:p>
        </p:txBody>
      </p:sp>
      <p:sp>
        <p:nvSpPr>
          <p:cNvPr id="4" name="Slide Number Placeholder 3">
            <a:extLst>
              <a:ext uri="{FF2B5EF4-FFF2-40B4-BE49-F238E27FC236}">
                <a16:creationId xmlns:a16="http://schemas.microsoft.com/office/drawing/2014/main" id="{6A7D9F28-92AA-9DEF-FC38-2A8E871692F2}"/>
              </a:ext>
            </a:extLst>
          </p:cNvPr>
          <p:cNvSpPr>
            <a:spLocks noGrp="1"/>
          </p:cNvSpPr>
          <p:nvPr>
            <p:ph type="sldNum" idx="12"/>
          </p:nvPr>
        </p:nvSpPr>
        <p:spPr>
          <a:xfrm>
            <a:off x="8557950" y="4594637"/>
            <a:ext cx="548700" cy="393600"/>
          </a:xfrm>
        </p:spPr>
        <p:txBody>
          <a:bodyPr>
            <a:normAutofit fontScale="9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a:t>
            </a:fld>
            <a:endParaRPr lang="en"/>
          </a:p>
        </p:txBody>
      </p:sp>
      <p:sp>
        <p:nvSpPr>
          <p:cNvPr id="5" name="Rectangle 1">
            <a:extLst>
              <a:ext uri="{FF2B5EF4-FFF2-40B4-BE49-F238E27FC236}">
                <a16:creationId xmlns:a16="http://schemas.microsoft.com/office/drawing/2014/main" id="{3B29E89C-1393-DA9E-6955-951B7D4D5A97}"/>
              </a:ext>
            </a:extLst>
          </p:cNvPr>
          <p:cNvSpPr>
            <a:spLocks noGrp="1" noChangeArrowheads="1"/>
          </p:cNvSpPr>
          <p:nvPr>
            <p:ph type="body" idx="1"/>
          </p:nvPr>
        </p:nvSpPr>
        <p:spPr bwMode="auto">
          <a:xfrm>
            <a:off x="37350" y="1069044"/>
            <a:ext cx="910665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High Demand in Industry</a:t>
            </a:r>
            <a:r>
              <a:rPr kumimoji="0" lang="en-US" altLang="en-US" sz="1800" b="0" i="0" u="none" strike="noStrike" cap="none" normalizeH="0" baseline="0" dirty="0">
                <a:ln>
                  <a:noFill/>
                </a:ln>
                <a:solidFill>
                  <a:schemeClr val="tx1"/>
                </a:solidFill>
                <a:effectLst/>
                <a:latin typeface="Arial" panose="020B0604020202020204" pitchFamily="34" charset="0"/>
              </a:rPr>
              <a:t> – Cloud computing skills are widely required by IT companies today.</a:t>
            </a:r>
          </a:p>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Cost Efficiency</a:t>
            </a:r>
            <a:r>
              <a:rPr kumimoji="0" lang="en-US" altLang="en-US" sz="1800" b="0" i="0" u="none" strike="noStrike" cap="none" normalizeH="0" baseline="0" dirty="0">
                <a:ln>
                  <a:noFill/>
                </a:ln>
                <a:solidFill>
                  <a:schemeClr val="tx1"/>
                </a:solidFill>
                <a:effectLst/>
                <a:latin typeface="Arial" panose="020B0604020202020204" pitchFamily="34" charset="0"/>
              </a:rPr>
              <a:t> – Reduces the need for expensive hardware and software by using online services.</a:t>
            </a:r>
          </a:p>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Scalability</a:t>
            </a:r>
            <a:r>
              <a:rPr kumimoji="0" lang="en-US" altLang="en-US" sz="1800" b="0" i="0" u="none" strike="noStrike" cap="none" normalizeH="0" baseline="0" dirty="0">
                <a:ln>
                  <a:noFill/>
                </a:ln>
                <a:solidFill>
                  <a:schemeClr val="tx1"/>
                </a:solidFill>
                <a:effectLst/>
                <a:latin typeface="Arial" panose="020B0604020202020204" pitchFamily="34" charset="0"/>
              </a:rPr>
              <a:t> – Resources like storage and computing power can be increased or decreased easily.</a:t>
            </a:r>
          </a:p>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Anywhere Access</a:t>
            </a:r>
            <a:r>
              <a:rPr kumimoji="0" lang="en-US" altLang="en-US" sz="1800" b="0" i="0" u="none" strike="noStrike" cap="none" normalizeH="0" baseline="0" dirty="0">
                <a:ln>
                  <a:noFill/>
                </a:ln>
                <a:solidFill>
                  <a:schemeClr val="tx1"/>
                </a:solidFill>
                <a:effectLst/>
                <a:latin typeface="Arial" panose="020B0604020202020204" pitchFamily="34" charset="0"/>
              </a:rPr>
              <a:t> – Data and applications can be accessed from any place with an internet connection.</a:t>
            </a:r>
          </a:p>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Supports Modern Technologies</a:t>
            </a:r>
            <a:r>
              <a:rPr kumimoji="0" lang="en-US" altLang="en-US" sz="1800" b="0" i="0" u="none" strike="noStrike" cap="none" normalizeH="0" baseline="0" dirty="0">
                <a:ln>
                  <a:noFill/>
                </a:ln>
                <a:solidFill>
                  <a:schemeClr val="tx1"/>
                </a:solidFill>
                <a:effectLst/>
                <a:latin typeface="Arial" panose="020B0604020202020204" pitchFamily="34" charset="0"/>
              </a:rPr>
              <a:t> – Essential for AI, Big Data, IoT, and machine learning applications.</a:t>
            </a:r>
          </a:p>
          <a:p>
            <a:pPr marL="285750" indent="-285750" defTabSz="914400" eaLnBrk="0" fontAlgn="base" hangingPunct="0">
              <a:spcBef>
                <a:spcPct val="0"/>
              </a:spcBef>
              <a:spcAft>
                <a:spcPct val="0"/>
              </a:spcAft>
              <a:buSzTx/>
            </a:pPr>
            <a:r>
              <a:rPr kumimoji="0" lang="en-US" altLang="en-US" sz="1800" b="1" i="0" u="none" strike="noStrike" cap="none" normalizeH="0" baseline="0" dirty="0">
                <a:ln>
                  <a:noFill/>
                </a:ln>
                <a:solidFill>
                  <a:schemeClr val="tx1"/>
                </a:solidFill>
                <a:effectLst/>
                <a:latin typeface="Arial" panose="020B0604020202020204" pitchFamily="34" charset="0"/>
              </a:rPr>
              <a:t>Improved Data Security</a:t>
            </a:r>
            <a:r>
              <a:rPr kumimoji="0" lang="en-US" altLang="en-US" sz="1800" b="0" i="0" u="none" strike="noStrike" cap="none" normalizeH="0" baseline="0" dirty="0">
                <a:ln>
                  <a:noFill/>
                </a:ln>
                <a:solidFill>
                  <a:schemeClr val="tx1"/>
                </a:solidFill>
                <a:effectLst/>
                <a:latin typeface="Arial" panose="020B0604020202020204" pitchFamily="34" charset="0"/>
              </a:rPr>
              <a:t> – Cloud providers offer advanced security, backup, and recovery features.</a:t>
            </a:r>
          </a:p>
        </p:txBody>
      </p:sp>
    </p:spTree>
    <p:extLst>
      <p:ext uri="{BB962C8B-B14F-4D97-AF65-F5344CB8AC3E}">
        <p14:creationId xmlns:p14="http://schemas.microsoft.com/office/powerpoint/2010/main" val="2417076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785684"/>
            <a:ext cx="8520600" cy="572700"/>
          </a:xfrm>
        </p:spPr>
        <p:txBody>
          <a:bodyPr>
            <a:normAutofit fontScale="90000"/>
          </a:bodyPr>
          <a:lstStyle/>
          <a:p>
            <a:r>
              <a:rPr lang="en" b="1" dirty="0">
                <a:solidFill>
                  <a:schemeClr val="accent1">
                    <a:lumMod val="75000"/>
                  </a:schemeClr>
                </a:solidFill>
                <a:latin typeface="Book Antiqua" panose="02040602050305030304" pitchFamily="18" charset="0"/>
                <a:cs typeface="Times New Roman" pitchFamily="18" charset="0"/>
              </a:rPr>
              <a:t>Abstract </a:t>
            </a:r>
            <a:br>
              <a:rPr lang="en-IN" dirty="0">
                <a:solidFill>
                  <a:schemeClr val="accent1">
                    <a:lumMod val="75000"/>
                  </a:schemeClr>
                </a:solidFill>
                <a:latin typeface="Book Antiqua" panose="02040602050305030304" pitchFamily="18" charset="0"/>
                <a:cs typeface="Times New Roman"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a:bodyPr>
          <a:lstStyle/>
          <a:p>
            <a:r>
              <a:rPr lang="en-US" dirty="0"/>
              <a:t>Cloud computing is the delivery of computing services (like storage, servers, databases, and software) over the internet, allowing users to access and use these resources from anywhere without managing physical infrastructure themselves.</a:t>
            </a:r>
          </a:p>
          <a:p>
            <a:r>
              <a:rPr lang="en-US" dirty="0"/>
              <a:t>It enables on-demand access, scalability, and cost savings because users only pay for what they use and can scale resources as needed</a:t>
            </a:r>
          </a:p>
          <a:p>
            <a:pPr algn="just">
              <a:buNone/>
            </a:pPr>
            <a:endParaRPr lang="en-US" sz="1600" dirty="0">
              <a:solidFill>
                <a:schemeClr val="tx1"/>
              </a:solidFill>
              <a:latin typeface="Book Antiqua" pitchFamily="18" charset="0"/>
            </a:endParaRPr>
          </a:p>
          <a:p>
            <a:endParaRPr lang="en-US" dirty="0"/>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7" name="TextBox 6">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
        <p:nvSpPr>
          <p:cNvPr id="8" name="Slide Number Placeholder 2">
            <a:extLst>
              <a:ext uri="{FF2B5EF4-FFF2-40B4-BE49-F238E27FC236}">
                <a16:creationId xmlns:a16="http://schemas.microsoft.com/office/drawing/2014/main" id="{F8A90BB3-869F-AD9A-6578-82D8EB1D6125}"/>
              </a:ext>
            </a:extLst>
          </p:cNvPr>
          <p:cNvSpPr txBox="1">
            <a:spLocks/>
          </p:cNvSpPr>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smtClean="0">
                <a:ln>
                  <a:noFill/>
                </a:ln>
                <a:solidFill>
                  <a:schemeClr val="dk2"/>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r>
              <a:rPr kumimoji="0" lang="en" sz="1000" b="0" i="0" u="none" strike="noStrike" kern="0" cap="none" spc="0" normalizeH="0" baseline="0" noProof="0">
                <a:ln>
                  <a:noFill/>
                </a:ln>
                <a:solidFill>
                  <a:schemeClr val="dk2"/>
                </a:solidFill>
                <a:effectLst/>
                <a:uLnTx/>
                <a:uFillTx/>
                <a:latin typeface="Arial"/>
                <a:ea typeface="Arial"/>
                <a:cs typeface="Arial"/>
                <a:sym typeface="Arial"/>
              </a:rPr>
              <a:t>/13</a:t>
            </a:r>
            <a:endParaRPr kumimoji="0" lang="en" sz="1000" b="0" i="0" u="none" strike="noStrike" kern="0" cap="none" spc="0" normalizeH="0" baseline="0" noProof="0" dirty="0">
              <a:ln>
                <a:noFill/>
              </a:ln>
              <a:solidFill>
                <a:schemeClr val="dk2"/>
              </a:solidFill>
              <a:effectLst/>
              <a:uLnTx/>
              <a:uFillTx/>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pPr algn="ctr"/>
            <a:r>
              <a:rPr lang="en" dirty="0">
                <a:solidFill>
                  <a:schemeClr val="accent1">
                    <a:lumMod val="75000"/>
                  </a:schemeClr>
                </a:solidFill>
                <a:latin typeface="Book Antiqua" panose="02040602050305030304" pitchFamily="18" charset="0"/>
                <a:cs typeface="Times New Roman" pitchFamily="18" charset="0"/>
              </a:rPr>
              <a:t>Introduction</a:t>
            </a:r>
            <a:br>
              <a:rPr lang="en-IN" dirty="0">
                <a:solidFill>
                  <a:schemeClr val="accent1">
                    <a:lumMod val="75000"/>
                  </a:schemeClr>
                </a:solidFill>
                <a:latin typeface="Book Antiqua" panose="02040602050305030304" pitchFamily="18" charset="0"/>
                <a:cs typeface="Times New Roman" pitchFamily="18" charset="0"/>
              </a:rPr>
            </a:br>
            <a:endParaRPr lang="en-US" dirty="0"/>
          </a:p>
        </p:txBody>
      </p:sp>
      <p:sp>
        <p:nvSpPr>
          <p:cNvPr id="14" name="Text Placeholder 13"/>
          <p:cNvSpPr>
            <a:spLocks noGrp="1"/>
          </p:cNvSpPr>
          <p:nvPr>
            <p:ph type="body" idx="1"/>
          </p:nvPr>
        </p:nvSpPr>
        <p:spPr>
          <a:xfrm>
            <a:off x="311700" y="1152474"/>
            <a:ext cx="8520600" cy="3545031"/>
          </a:xfrm>
        </p:spPr>
        <p:txBody>
          <a:bodyPr>
            <a:normAutofit fontScale="70000" lnSpcReduction="20000"/>
          </a:bodyPr>
          <a:lstStyle/>
          <a:p>
            <a:pPr algn="just"/>
            <a:r>
              <a:rPr lang="en-US" dirty="0">
                <a:solidFill>
                  <a:schemeClr val="tx1"/>
                </a:solidFill>
                <a:latin typeface="Book Antiqua" pitchFamily="18" charset="0"/>
              </a:rPr>
              <a:t>Background-</a:t>
            </a:r>
          </a:p>
          <a:p>
            <a:pPr algn="just">
              <a:buNone/>
            </a:pPr>
            <a:r>
              <a:rPr lang="en-US" dirty="0">
                <a:solidFill>
                  <a:schemeClr val="tx1"/>
                </a:solidFill>
                <a:latin typeface="Book Antiqua" pitchFamily="18" charset="0"/>
              </a:rPr>
              <a:t>      </a:t>
            </a:r>
            <a:r>
              <a:rPr lang="en-US" dirty="0"/>
              <a:t>Cloud computing is the delivery of computing services like storage, software, and processing power over the internet, allowing users to access resources on demand without owning or managing physical hardware themselves</a:t>
            </a:r>
            <a:endParaRPr lang="en-US" dirty="0">
              <a:solidFill>
                <a:schemeClr val="tx1"/>
              </a:solidFill>
              <a:latin typeface="Book Antiqua" pitchFamily="18" charset="0"/>
            </a:endParaRPr>
          </a:p>
          <a:p>
            <a:pPr algn="just">
              <a:buNone/>
            </a:pPr>
            <a:endParaRPr lang="en-US" dirty="0">
              <a:solidFill>
                <a:schemeClr val="tx1"/>
              </a:solidFill>
              <a:latin typeface="Book Antiqua" pitchFamily="18" charset="0"/>
            </a:endParaRPr>
          </a:p>
          <a:p>
            <a:pPr algn="just"/>
            <a:r>
              <a:rPr lang="en-US" dirty="0">
                <a:solidFill>
                  <a:schemeClr val="tx1"/>
                </a:solidFill>
                <a:latin typeface="Book Antiqua" pitchFamily="18" charset="0"/>
              </a:rPr>
              <a:t>Need for the Project-</a:t>
            </a:r>
          </a:p>
          <a:p>
            <a:pPr algn="just">
              <a:buNone/>
            </a:pPr>
            <a:r>
              <a:rPr lang="en-US" dirty="0">
                <a:solidFill>
                  <a:schemeClr val="tx1"/>
                </a:solidFill>
                <a:latin typeface="Book Antiqua" pitchFamily="18" charset="0"/>
              </a:rPr>
              <a:t>      </a:t>
            </a:r>
            <a:r>
              <a:rPr lang="en-US" dirty="0"/>
              <a:t>Cloud computing is needed because it allows organizations and individuals to access and scale computing resources and services over the internet quickly and cost-effectively, without the need to own or maintain physical hardware</a:t>
            </a:r>
            <a:endParaRPr lang="en-US" dirty="0">
              <a:solidFill>
                <a:schemeClr val="tx1"/>
              </a:solidFill>
              <a:latin typeface="Book Antiqua" pitchFamily="18" charset="0"/>
            </a:endParaRPr>
          </a:p>
          <a:p>
            <a:pPr algn="just">
              <a:buNone/>
            </a:pPr>
            <a:endParaRPr lang="en-US" dirty="0">
              <a:solidFill>
                <a:schemeClr val="tx1"/>
              </a:solidFill>
              <a:latin typeface="Book Antiqua" pitchFamily="18" charset="0"/>
            </a:endParaRPr>
          </a:p>
          <a:p>
            <a:pPr algn="just"/>
            <a:r>
              <a:rPr lang="en-US" dirty="0">
                <a:solidFill>
                  <a:schemeClr val="tx1"/>
                </a:solidFill>
                <a:latin typeface="Book Antiqua" pitchFamily="18" charset="0"/>
              </a:rPr>
              <a:t>Scope of the Project</a:t>
            </a:r>
          </a:p>
          <a:p>
            <a:pPr algn="just">
              <a:buNone/>
            </a:pPr>
            <a:r>
              <a:rPr lang="en-US" dirty="0">
                <a:solidFill>
                  <a:schemeClr val="tx1"/>
                </a:solidFill>
                <a:latin typeface="Book Antiqua" pitchFamily="18" charset="0"/>
              </a:rPr>
              <a:t>       </a:t>
            </a:r>
            <a:r>
              <a:rPr lang="en-US" dirty="0"/>
              <a:t>This presentation covers the fundamentals of cloud computing, its evolution, service and deployment models, advantages, and applications, preparing the audience for further exploration in cloud-related areas.</a:t>
            </a:r>
            <a:endParaRPr lang="en-US" dirty="0">
              <a:solidFill>
                <a:schemeClr val="tx1"/>
              </a:solidFill>
              <a:latin typeface="Book Antiqua" pitchFamily="18" charset="0"/>
            </a:endParaRPr>
          </a:p>
          <a:p>
            <a:pPr algn="just"/>
            <a:endParaRPr lang="en-US" i="1" dirty="0">
              <a:solidFill>
                <a:schemeClr val="tx1"/>
              </a:solidFill>
              <a:latin typeface="Book Antiqua" pitchFamily="18" charset="0"/>
            </a:endParaRPr>
          </a:p>
          <a:p>
            <a:pPr>
              <a:buNone/>
            </a:pPr>
            <a:r>
              <a:rPr lang="en-US" dirty="0"/>
              <a:t>Cloud computing is a technology that allows you to access and use computing resources like storage, software, and servers over the internet on demand, without needing to own or manage physical hardware</a:t>
            </a:r>
            <a:br>
              <a:rPr lang="en-US" dirty="0"/>
            </a:br>
            <a:endParaRPr lang="en-US" dirty="0"/>
          </a:p>
        </p:txBody>
      </p:sp>
      <p:sp>
        <p:nvSpPr>
          <p:cNvPr id="4" name="Slide Number Placeholder 3">
            <a:extLst>
              <a:ext uri="{FF2B5EF4-FFF2-40B4-BE49-F238E27FC236}">
                <a16:creationId xmlns:a16="http://schemas.microsoft.com/office/drawing/2014/main" id="{08EB3539-3903-E8B4-53A1-BB74F7767649}"/>
              </a:ext>
            </a:extLst>
          </p:cNvPr>
          <p:cNvSpPr>
            <a:spLocks noGrp="1"/>
          </p:cNvSpPr>
          <p:nvPr>
            <p:ph type="sldNum" idx="12"/>
          </p:nvPr>
        </p:nvSpPr>
        <p:spPr/>
        <p:txBody>
          <a:bodyPr>
            <a:normAutofit fontScale="85000" lnSpcReduction="1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r>
              <a:rPr lang="en" dirty="0"/>
              <a:t>/13</a:t>
            </a:r>
          </a:p>
        </p:txBody>
      </p:sp>
      <p:sp>
        <p:nvSpPr>
          <p:cNvPr id="5" name="TextBox 4">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pic>
        <p:nvPicPr>
          <p:cNvPr id="11"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805873" cy="923925"/>
          </a:xfrm>
          <a:prstGeom prst="rect">
            <a:avLst/>
          </a:prstGeom>
          <a:noFill/>
        </p:spPr>
      </p:pic>
    </p:spTree>
    <p:extLst>
      <p:ext uri="{BB962C8B-B14F-4D97-AF65-F5344CB8AC3E}">
        <p14:creationId xmlns:p14="http://schemas.microsoft.com/office/powerpoint/2010/main" val="3356628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90;p15">
            <a:extLst>
              <a:ext uri="{FF2B5EF4-FFF2-40B4-BE49-F238E27FC236}">
                <a16:creationId xmlns:a16="http://schemas.microsoft.com/office/drawing/2014/main" id="{6391D0DD-F80E-E4B5-E7FB-586150DD24F0}"/>
              </a:ext>
            </a:extLst>
          </p:cNvPr>
          <p:cNvSpPr txBox="1">
            <a:spLocks noGrp="1"/>
          </p:cNvSpPr>
          <p:nvPr>
            <p:ph type="title"/>
          </p:nvPr>
        </p:nvSpPr>
        <p:spPr>
          <a:xfrm>
            <a:off x="0" y="-9563"/>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sz="2600" dirty="0">
                <a:solidFill>
                  <a:srgbClr val="FF0000"/>
                </a:solidFill>
                <a:latin typeface="Book Antiqua" panose="02040602050305030304" pitchFamily="18" charset="0"/>
                <a:cs typeface="Times New Roman" panose="02020603050405020304" pitchFamily="18" charset="0"/>
              </a:rPr>
              <a:t>Sample: </a:t>
            </a:r>
            <a:r>
              <a:rPr lang="en-GB" sz="2600" dirty="0">
                <a:solidFill>
                  <a:schemeClr val="accent1">
                    <a:lumMod val="75000"/>
                  </a:schemeClr>
                </a:solidFill>
                <a:latin typeface="Book Antiqua" panose="02040602050305030304" pitchFamily="18" charset="0"/>
                <a:cs typeface="Times New Roman" panose="02020603050405020304" pitchFamily="18" charset="0"/>
              </a:rPr>
              <a:t>Problem statement</a:t>
            </a:r>
            <a:endParaRPr sz="2600" dirty="0">
              <a:solidFill>
                <a:schemeClr val="accent1">
                  <a:lumMod val="75000"/>
                </a:schemeClr>
              </a:solidFill>
              <a:latin typeface="Book Antiqua" panose="02040602050305030304" pitchFamily="18" charset="0"/>
              <a:cs typeface="Times New Roman" panose="02020603050405020304" pitchFamily="18" charset="0"/>
            </a:endParaRPr>
          </a:p>
          <a:p>
            <a:pPr marL="0" lvl="0" indent="0" algn="l" rtl="0">
              <a:spcBef>
                <a:spcPts val="0"/>
              </a:spcBef>
              <a:spcAft>
                <a:spcPts val="0"/>
              </a:spcAft>
              <a:buNone/>
            </a:pPr>
            <a:endParaRPr b="1" dirty="0"/>
          </a:p>
        </p:txBody>
      </p:sp>
      <p:sp>
        <p:nvSpPr>
          <p:cNvPr id="10" name="Slide Number Placeholder 9">
            <a:extLst>
              <a:ext uri="{FF2B5EF4-FFF2-40B4-BE49-F238E27FC236}">
                <a16:creationId xmlns:a16="http://schemas.microsoft.com/office/drawing/2014/main" id="{08233C2A-392F-B08F-E768-1340A45C7A35}"/>
              </a:ext>
            </a:extLst>
          </p:cNvPr>
          <p:cNvSpPr>
            <a:spLocks noGrp="1"/>
          </p:cNvSpPr>
          <p:nvPr>
            <p:ph type="sldNum" idx="12"/>
          </p:nvPr>
        </p:nvSpPr>
        <p:spPr>
          <a:xfrm>
            <a:off x="8597131" y="4794022"/>
            <a:ext cx="548700" cy="393600"/>
          </a:xfrm>
        </p:spPr>
        <p:txBody>
          <a:bodyPr>
            <a:normAutofit fontScale="85000" lnSpcReduction="1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r>
              <a:rPr lang="en" dirty="0"/>
              <a:t>/13</a:t>
            </a:r>
          </a:p>
        </p:txBody>
      </p:sp>
      <p:sp>
        <p:nvSpPr>
          <p:cNvPr id="2" name="TextBox 1">
            <a:extLst>
              <a:ext uri="{FF2B5EF4-FFF2-40B4-BE49-F238E27FC236}">
                <a16:creationId xmlns:a16="http://schemas.microsoft.com/office/drawing/2014/main" id="{FB431A81-1BB7-8A70-6644-1E07DC680144}"/>
              </a:ext>
            </a:extLst>
          </p:cNvPr>
          <p:cNvSpPr txBox="1"/>
          <p:nvPr/>
        </p:nvSpPr>
        <p:spPr>
          <a:xfrm>
            <a:off x="0" y="4860017"/>
            <a:ext cx="8597131"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pic>
        <p:nvPicPr>
          <p:cNvPr id="21" name="Picture 1" descr="https://encrypted-tbn0.gstatic.com/images?q=tbn:ANd9GcQdAoy8HAYiGwgqBMeq0EtfxKBc5i9totR_W7yOXHEosxAvJ3u6k6r7MVNRo_M3U1QAJMc&amp;usqp=CAU"/>
          <p:cNvPicPr>
            <a:picLocks noChangeAspect="1" noChangeArrowheads="1"/>
          </p:cNvPicPr>
          <p:nvPr/>
        </p:nvPicPr>
        <p:blipFill>
          <a:blip r:embed="rId3"/>
          <a:srcRect/>
          <a:stretch>
            <a:fillRect/>
          </a:stretch>
        </p:blipFill>
        <p:spPr bwMode="auto">
          <a:xfrm>
            <a:off x="0" y="0"/>
            <a:ext cx="805873" cy="923925"/>
          </a:xfrm>
          <a:prstGeom prst="rect">
            <a:avLst/>
          </a:prstGeom>
          <a:noFill/>
        </p:spPr>
      </p:pic>
      <p:pic>
        <p:nvPicPr>
          <p:cNvPr id="5" name="Picture 2" descr="Cloud Computing Challenges">
            <a:extLst>
              <a:ext uri="{FF2B5EF4-FFF2-40B4-BE49-F238E27FC236}">
                <a16:creationId xmlns:a16="http://schemas.microsoft.com/office/drawing/2014/main" id="{56E671C7-7F4C-CEAF-0CDE-6F30CDA781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255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 dirty="0">
                <a:solidFill>
                  <a:schemeClr val="accent1">
                    <a:lumMod val="75000"/>
                  </a:schemeClr>
                </a:solidFill>
                <a:latin typeface="Book Antiqua" panose="02040602050305030304" pitchFamily="18" charset="0"/>
                <a:cs typeface="Times New Roman" pitchFamily="18" charset="0"/>
              </a:rPr>
              <a:t>Literature Review </a:t>
            </a:r>
            <a:r>
              <a:rPr lang="en-US" dirty="0">
                <a:latin typeface="Book Antiqua" pitchFamily="18" charset="0"/>
              </a:rPr>
              <a:t>( Most imp. Section at this seminar)</a:t>
            </a:r>
            <a:br>
              <a:rPr lang="en-US" dirty="0">
                <a:latin typeface="Book Antiqua" pitchFamily="18" charset="0"/>
              </a:rPr>
            </a:br>
            <a:endParaRPr lang="en-US" dirty="0">
              <a:latin typeface="Book Antiqua" pitchFamily="18" charset="0"/>
            </a:endParaRPr>
          </a:p>
        </p:txBody>
      </p:sp>
      <p:sp>
        <p:nvSpPr>
          <p:cNvPr id="3" name="Text Placeholder 2"/>
          <p:cNvSpPr>
            <a:spLocks noGrp="1"/>
          </p:cNvSpPr>
          <p:nvPr>
            <p:ph type="body" idx="1"/>
          </p:nvPr>
        </p:nvSpPr>
        <p:spPr/>
        <p:txBody>
          <a:bodyPr>
            <a:normAutofit fontScale="77500" lnSpcReduction="20000"/>
          </a:bodyPr>
          <a:lstStyle/>
          <a:p>
            <a:r>
              <a:rPr lang="en-US" dirty="0"/>
              <a:t>Literature Review</a:t>
            </a:r>
          </a:p>
          <a:p>
            <a:r>
              <a:rPr lang="en-US" dirty="0"/>
              <a:t>Cloud Computing Adoption Issues:</a:t>
            </a:r>
            <a:br>
              <a:rPr lang="en-US" dirty="0"/>
            </a:br>
            <a:r>
              <a:rPr lang="en-US" dirty="0"/>
              <a:t>Studies show enterprises face both internal (management experience, resources) and external challenges (regulations, standards) before adopting cloud computing.</a:t>
            </a:r>
          </a:p>
          <a:p>
            <a:r>
              <a:rPr lang="en-US" dirty="0"/>
              <a:t>Benefits Identified:</a:t>
            </a:r>
            <a:br>
              <a:rPr lang="en-US" dirty="0"/>
            </a:br>
            <a:r>
              <a:rPr lang="en-US" dirty="0"/>
              <a:t>Research highlights cloud’s cost efficiency, scalability, agility, and accessibility as major advantages for organizations of all sizes.</a:t>
            </a:r>
          </a:p>
          <a:p>
            <a:r>
              <a:rPr lang="en-US" dirty="0"/>
              <a:t>Common Challenges:</a:t>
            </a:r>
            <a:br>
              <a:rPr lang="en-US" dirty="0"/>
            </a:br>
            <a:r>
              <a:rPr lang="en-US" dirty="0"/>
              <a:t>Key issues include security risks, privacy concerns, interoperability difficulties, network dependency, and skill shortages.</a:t>
            </a:r>
          </a:p>
          <a:p>
            <a:r>
              <a:rPr lang="en-US" dirty="0"/>
              <a:t>Research Trends:</a:t>
            </a:r>
            <a:br>
              <a:rPr lang="en-US" dirty="0"/>
            </a:br>
            <a:r>
              <a:rPr lang="en-US" dirty="0"/>
              <a:t>Future work focuses on enhancing cloud governance, security frameworks, service quality, and overcoming adoption barriers through innovative architectures.</a:t>
            </a:r>
          </a:p>
          <a:p>
            <a:r>
              <a:rPr lang="en-US" dirty="0"/>
              <a:t>Applications:</a:t>
            </a:r>
            <a:br>
              <a:rPr lang="en-US" dirty="0"/>
            </a:br>
            <a:r>
              <a:rPr lang="en-US" dirty="0"/>
              <a:t>Cloud computing is increasingly applied across various domains such as healthcare (eHealth), education, and business analytics, driving digital transformation.</a:t>
            </a:r>
          </a:p>
          <a:p>
            <a:endParaRPr lang="en-US" dirty="0"/>
          </a:p>
        </p:txBody>
      </p:sp>
      <p:sp>
        <p:nvSpPr>
          <p:cNvPr id="4" name="Slide Number Placeholder 3"/>
          <p:cNvSpPr>
            <a:spLocks noGrp="1"/>
          </p:cNvSpPr>
          <p:nvPr>
            <p:ph type="sldNum" idx="12"/>
          </p:nvPr>
        </p:nvSpPr>
        <p:spPr/>
        <p:txBody>
          <a:bodyPr>
            <a:normAutofit fontScale="85000" lnSpcReduction="1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r>
              <a:rPr lang="en" dirty="0"/>
              <a:t>/13</a:t>
            </a:r>
          </a:p>
        </p:txBody>
      </p:sp>
      <p:sp>
        <p:nvSpPr>
          <p:cNvPr id="5" name="TextBox 4">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4C4B0-8E96-5628-3EDE-634478577A0A}"/>
              </a:ext>
            </a:extLst>
          </p:cNvPr>
          <p:cNvSpPr>
            <a:spLocks noGrp="1"/>
          </p:cNvSpPr>
          <p:nvPr>
            <p:ph type="title"/>
          </p:nvPr>
        </p:nvSpPr>
        <p:spPr/>
        <p:txBody>
          <a:bodyPr>
            <a:normAutofit/>
          </a:bodyPr>
          <a:lstStyle/>
          <a:p>
            <a:pPr algn="ctr"/>
            <a:r>
              <a:rPr lang="en-US" sz="2300" dirty="0">
                <a:solidFill>
                  <a:schemeClr val="accent1">
                    <a:lumMod val="75000"/>
                  </a:schemeClr>
                </a:solidFill>
                <a:latin typeface="Book Antiqua" panose="02040602050305030304" pitchFamily="18" charset="0"/>
                <a:cs typeface="Times New Roman" panose="02020603050405020304" pitchFamily="18" charset="0"/>
              </a:rPr>
              <a:t>Gap Identification/Problem Definition</a:t>
            </a:r>
            <a:endParaRPr lang="en-IN" sz="2300" dirty="0">
              <a:solidFill>
                <a:schemeClr val="accent1">
                  <a:lumMod val="75000"/>
                </a:schemeClr>
              </a:solidFill>
              <a:latin typeface="Book Antiqua" panose="02040602050305030304" pitchFamily="18" charset="0"/>
              <a:cs typeface="Times New Roman" panose="02020603050405020304" pitchFamily="18" charset="0"/>
            </a:endParaRPr>
          </a:p>
        </p:txBody>
      </p:sp>
      <p:sp>
        <p:nvSpPr>
          <p:cNvPr id="14" name="Text Placeholder 13"/>
          <p:cNvSpPr>
            <a:spLocks noGrp="1"/>
          </p:cNvSpPr>
          <p:nvPr>
            <p:ph type="body" idx="1"/>
          </p:nvPr>
        </p:nvSpPr>
        <p:spPr/>
        <p:txBody>
          <a:bodyPr>
            <a:normAutofit fontScale="92500" lnSpcReduction="20000"/>
          </a:bodyPr>
          <a:lstStyle/>
          <a:p>
            <a:r>
              <a:rPr lang="en-US" dirty="0"/>
              <a:t>Security Concerns: Despite advances, cloud security remains a top concern with rising threats like AI-driven attacks and quantum computing risks.</a:t>
            </a:r>
          </a:p>
          <a:p>
            <a:r>
              <a:rPr lang="en-US" dirty="0"/>
              <a:t>Multi-Cloud Complexity: Organizations are increasingly adopting multi-cloud and hybrid cloud strategies, but lack of standardization complicates management and interoperability.</a:t>
            </a:r>
          </a:p>
          <a:p>
            <a:r>
              <a:rPr lang="en-US" dirty="0"/>
              <a:t>Skill Shortage: There is an ongoing shortage of skilled professionals proficient in cloud architecture, DevOps, and cloud security, slowing adoption.</a:t>
            </a:r>
          </a:p>
          <a:p>
            <a:r>
              <a:rPr lang="en-US" dirty="0"/>
              <a:t>Cost &amp; Resource Optimization: Many organizations struggle to control and optimize cloud costs effectively, leading to resource waste.</a:t>
            </a:r>
          </a:p>
          <a:p>
            <a:r>
              <a:rPr lang="en-US" dirty="0"/>
              <a:t>Edge &amp; Cloud Integration: Growing demand for edge computing requires seamless integration with cloud platforms, which is still a challenge.</a:t>
            </a:r>
          </a:p>
          <a:p>
            <a:r>
              <a:rPr lang="en-US" dirty="0"/>
              <a:t>Governance &amp; Compliance: Ensuring compliance with regulatory frameworks and data sovereignty laws across diverse jurisdictions remains an unsolved issue</a:t>
            </a:r>
          </a:p>
          <a:p>
            <a:endParaRPr lang="en-US" dirty="0">
              <a:solidFill>
                <a:schemeClr val="tx1"/>
              </a:solidFill>
              <a:latin typeface="Book Antiqua" pitchFamily="18" charset="0"/>
            </a:endParaRPr>
          </a:p>
          <a:p>
            <a:pPr>
              <a:buNone/>
            </a:pPr>
            <a:endParaRPr lang="en-US" dirty="0">
              <a:solidFill>
                <a:schemeClr val="tx1"/>
              </a:solidFill>
              <a:latin typeface="Book Antiqua" pitchFamily="18" charset="0"/>
            </a:endParaRPr>
          </a:p>
        </p:txBody>
      </p:sp>
      <p:sp>
        <p:nvSpPr>
          <p:cNvPr id="6" name="Slide Number Placeholder 5">
            <a:extLst>
              <a:ext uri="{FF2B5EF4-FFF2-40B4-BE49-F238E27FC236}">
                <a16:creationId xmlns:a16="http://schemas.microsoft.com/office/drawing/2014/main" id="{D7FE022A-B780-EB41-7106-5EEBABF62190}"/>
              </a:ext>
            </a:extLst>
          </p:cNvPr>
          <p:cNvSpPr>
            <a:spLocks noGrp="1"/>
          </p:cNvSpPr>
          <p:nvPr>
            <p:ph type="sldNum" idx="12"/>
          </p:nvPr>
        </p:nvSpPr>
        <p:spPr/>
        <p:txBody>
          <a:bodyPr>
            <a:normAutofit fontScale="85000" lnSpcReduction="1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r>
              <a:rPr lang="en" dirty="0"/>
              <a:t>/13</a:t>
            </a:r>
          </a:p>
        </p:txBody>
      </p:sp>
      <p:pic>
        <p:nvPicPr>
          <p:cNvPr id="12"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805873" cy="923925"/>
          </a:xfrm>
          <a:prstGeom prst="rect">
            <a:avLst/>
          </a:prstGeom>
          <a:noFill/>
        </p:spPr>
      </p:pic>
      <p:sp>
        <p:nvSpPr>
          <p:cNvPr id="9" name="TextBox 8">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Tree>
    <p:extLst>
      <p:ext uri="{BB962C8B-B14F-4D97-AF65-F5344CB8AC3E}">
        <p14:creationId xmlns:p14="http://schemas.microsoft.com/office/powerpoint/2010/main" val="19229867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091" y="891834"/>
            <a:ext cx="8520600" cy="572700"/>
          </a:xfrm>
        </p:spPr>
        <p:txBody>
          <a:bodyPr>
            <a:normAutofit fontScale="90000"/>
          </a:bodyPr>
          <a:lstStyle/>
          <a:p>
            <a:pPr algn="ctr"/>
            <a:r>
              <a:rPr lang="en" dirty="0">
                <a:solidFill>
                  <a:schemeClr val="accent1">
                    <a:lumMod val="75000"/>
                  </a:schemeClr>
                </a:solidFill>
                <a:latin typeface="Book Antiqua" panose="02040602050305030304" pitchFamily="18" charset="0"/>
                <a:cs typeface="Times New Roman" pitchFamily="18" charset="0"/>
              </a:rPr>
              <a:t>Methodology </a:t>
            </a:r>
            <a:br>
              <a:rPr lang="en-IN" dirty="0">
                <a:solidFill>
                  <a:schemeClr val="accent1">
                    <a:lumMod val="75000"/>
                  </a:schemeClr>
                </a:solidFill>
                <a:latin typeface="Book Antiqua" panose="02040602050305030304" pitchFamily="18" charset="0"/>
                <a:cs typeface="Times New Roman" pitchFamily="18" charset="0"/>
              </a:rPr>
            </a:br>
            <a:endParaRPr lang="en-US" dirty="0"/>
          </a:p>
        </p:txBody>
      </p:sp>
      <p:sp>
        <p:nvSpPr>
          <p:cNvPr id="3" name="Text Placeholder 2"/>
          <p:cNvSpPr>
            <a:spLocks noGrp="1"/>
          </p:cNvSpPr>
          <p:nvPr>
            <p:ph type="body" idx="1"/>
          </p:nvPr>
        </p:nvSpPr>
        <p:spPr>
          <a:xfrm>
            <a:off x="290918" y="1505766"/>
            <a:ext cx="8520600" cy="3416400"/>
          </a:xfrm>
        </p:spPr>
        <p:txBody>
          <a:bodyPr>
            <a:normAutofit/>
          </a:bodyPr>
          <a:lstStyle/>
          <a:p>
            <a:r>
              <a:rPr lang="en-US" dirty="0"/>
              <a:t>Evaluate Current Infrastructure and Workflows</a:t>
            </a:r>
            <a:br>
              <a:rPr lang="en-US" dirty="0"/>
            </a:br>
            <a:r>
              <a:rPr lang="en-US" dirty="0"/>
              <a:t>Assess existing IT systems, applications, and services to identify what can be migrated and optimized in the cloud.</a:t>
            </a:r>
          </a:p>
          <a:p>
            <a:r>
              <a:rPr lang="en-US" dirty="0"/>
              <a:t>Define Business Objectives</a:t>
            </a:r>
            <a:br>
              <a:rPr lang="en-US" dirty="0"/>
            </a:br>
            <a:r>
              <a:rPr lang="en-US" dirty="0"/>
              <a:t>Set goals like cost reduction, scalability, improved accessibility, or enhanced collaboration that the cloud solutions should meet.</a:t>
            </a:r>
          </a:p>
          <a:p>
            <a:r>
              <a:rPr lang="en-US" dirty="0"/>
              <a:t>Choose Cloud Deployment and Service Models</a:t>
            </a:r>
            <a:br>
              <a:rPr lang="en-US" dirty="0"/>
            </a:br>
            <a:r>
              <a:rPr lang="en-US" dirty="0"/>
              <a:t>Select appropriate models (Public, Private, Hybrid Cloud; IaaS, PaaS, SaaS) based on business needs and data sensitivity.</a:t>
            </a:r>
          </a:p>
          <a:p>
            <a:pPr algn="just"/>
            <a:endParaRPr lang="en-US" sz="1600" dirty="0">
              <a:solidFill>
                <a:schemeClr val="tx1"/>
              </a:solidFill>
              <a:latin typeface="Book Antiqua" pitchFamily="18" charset="0"/>
            </a:endParaRPr>
          </a:p>
        </p:txBody>
      </p:sp>
      <p:sp>
        <p:nvSpPr>
          <p:cNvPr id="4" name="Slide Number Placeholder 3"/>
          <p:cNvSpPr>
            <a:spLocks noGrp="1"/>
          </p:cNvSpPr>
          <p:nvPr>
            <p:ph type="sldNum" idx="12"/>
          </p:nvPr>
        </p:nvSpPr>
        <p:spPr/>
        <p:txBody>
          <a:bodyPr>
            <a:normAutofit fontScale="6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r>
              <a:rPr lang="en" dirty="0"/>
              <a:t>/13</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805873" cy="923925"/>
          </a:xfrm>
          <a:prstGeom prst="rect">
            <a:avLst/>
          </a:prstGeom>
          <a:noFill/>
        </p:spPr>
      </p:pic>
      <p:sp>
        <p:nvSpPr>
          <p:cNvPr id="6" name="TextBox 5">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DE26-1C95-C8C2-1618-1ED46A5C70E9}"/>
              </a:ext>
            </a:extLst>
          </p:cNvPr>
          <p:cNvSpPr>
            <a:spLocks noGrp="1"/>
          </p:cNvSpPr>
          <p:nvPr>
            <p:ph type="title"/>
          </p:nvPr>
        </p:nvSpPr>
        <p:spPr>
          <a:xfrm>
            <a:off x="1984916" y="445025"/>
            <a:ext cx="6847383" cy="357863"/>
          </a:xfrm>
        </p:spPr>
        <p:txBody>
          <a:bodyPr>
            <a:noAutofit/>
          </a:bodyPr>
          <a:lstStyle/>
          <a:p>
            <a:r>
              <a:rPr lang="en-US" sz="2400" dirty="0"/>
              <a:t>Methodology</a:t>
            </a:r>
          </a:p>
        </p:txBody>
      </p:sp>
      <p:sp>
        <p:nvSpPr>
          <p:cNvPr id="3" name="Text Placeholder 2">
            <a:extLst>
              <a:ext uri="{FF2B5EF4-FFF2-40B4-BE49-F238E27FC236}">
                <a16:creationId xmlns:a16="http://schemas.microsoft.com/office/drawing/2014/main" id="{3D3D3E69-DEED-FE9D-C083-9718F0E3465E}"/>
              </a:ext>
            </a:extLst>
          </p:cNvPr>
          <p:cNvSpPr>
            <a:spLocks noGrp="1"/>
          </p:cNvSpPr>
          <p:nvPr>
            <p:ph type="body" idx="1"/>
          </p:nvPr>
        </p:nvSpPr>
        <p:spPr/>
        <p:txBody>
          <a:bodyPr/>
          <a:lstStyle/>
          <a:p>
            <a:r>
              <a:rPr lang="en-US" dirty="0"/>
              <a:t>Plan Migration Strategy</a:t>
            </a:r>
            <a:br>
              <a:rPr lang="en-US" dirty="0"/>
            </a:br>
            <a:r>
              <a:rPr lang="en-US" dirty="0"/>
              <a:t>Decide migration approach:</a:t>
            </a:r>
          </a:p>
          <a:p>
            <a:pPr lvl="1"/>
            <a:r>
              <a:rPr lang="en-US" dirty="0"/>
              <a:t>Rehost (Lift and Shift): Move applications as-is to the cloud.</a:t>
            </a:r>
          </a:p>
          <a:p>
            <a:pPr lvl="1"/>
            <a:r>
              <a:rPr lang="en-US" dirty="0"/>
              <a:t>Refactor: Modify applications to leverage cloud-native features.</a:t>
            </a:r>
          </a:p>
          <a:p>
            <a:r>
              <a:rPr lang="en-US" dirty="0"/>
              <a:t>Data Migration and Integration</a:t>
            </a:r>
            <a:br>
              <a:rPr lang="en-US" dirty="0"/>
            </a:br>
            <a:r>
              <a:rPr lang="en-US" dirty="0"/>
              <a:t>Plan for secure and smooth data transfer to the cloud, ensuring minimal downtime and data integrity.</a:t>
            </a:r>
          </a:p>
          <a:p>
            <a:endParaRPr lang="en-US" dirty="0"/>
          </a:p>
        </p:txBody>
      </p:sp>
      <p:sp>
        <p:nvSpPr>
          <p:cNvPr id="4" name="Slide Number Placeholder 3">
            <a:extLst>
              <a:ext uri="{FF2B5EF4-FFF2-40B4-BE49-F238E27FC236}">
                <a16:creationId xmlns:a16="http://schemas.microsoft.com/office/drawing/2014/main" id="{3E43CD35-35B0-BF7F-1840-80CE0904BE5B}"/>
              </a:ext>
            </a:extLst>
          </p:cNvPr>
          <p:cNvSpPr>
            <a:spLocks noGrp="1"/>
          </p:cNvSpPr>
          <p:nvPr>
            <p:ph type="sldNum" idx="12"/>
          </p:nvPr>
        </p:nvSpPr>
        <p:spPr/>
        <p:txBody>
          <a:bodyPr>
            <a:normAutofit fontScale="9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pic>
        <p:nvPicPr>
          <p:cNvPr id="5" name="Picture 1" descr="https://encrypted-tbn0.gstatic.com/images?q=tbn:ANd9GcQdAoy8HAYiGwgqBMeq0EtfxKBc5i9totR_W7yOXHEosxAvJ3u6k6r7MVNRo_M3U1QAJMc&amp;usqp=CAU">
            <a:extLst>
              <a:ext uri="{FF2B5EF4-FFF2-40B4-BE49-F238E27FC236}">
                <a16:creationId xmlns:a16="http://schemas.microsoft.com/office/drawing/2014/main" id="{0611D1E4-3FC0-0244-4891-F44576B1BFFD}"/>
              </a:ext>
            </a:extLst>
          </p:cNvPr>
          <p:cNvPicPr>
            <a:picLocks noChangeAspect="1" noChangeArrowheads="1"/>
          </p:cNvPicPr>
          <p:nvPr/>
        </p:nvPicPr>
        <p:blipFill>
          <a:blip r:embed="rId2"/>
          <a:srcRect/>
          <a:stretch>
            <a:fillRect/>
          </a:stretch>
        </p:blipFill>
        <p:spPr bwMode="auto">
          <a:xfrm>
            <a:off x="0" y="0"/>
            <a:ext cx="805873" cy="923925"/>
          </a:xfrm>
          <a:prstGeom prst="rect">
            <a:avLst/>
          </a:prstGeom>
          <a:noFill/>
        </p:spPr>
      </p:pic>
    </p:spTree>
    <p:extLst>
      <p:ext uri="{BB962C8B-B14F-4D97-AF65-F5344CB8AC3E}">
        <p14:creationId xmlns:p14="http://schemas.microsoft.com/office/powerpoint/2010/main" val="1275222475"/>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827" y="839880"/>
            <a:ext cx="8520600" cy="572700"/>
          </a:xfrm>
        </p:spPr>
        <p:txBody>
          <a:bodyPr>
            <a:normAutofit fontScale="90000"/>
          </a:bodyPr>
          <a:lstStyle/>
          <a:p>
            <a:r>
              <a:rPr lang="en" dirty="0">
                <a:solidFill>
                  <a:schemeClr val="accent1">
                    <a:lumMod val="75000"/>
                  </a:schemeClr>
                </a:solidFill>
                <a:latin typeface="Book Antiqua" panose="02040602050305030304" pitchFamily="18" charset="0"/>
                <a:cs typeface="Times New Roman" pitchFamily="18" charset="0"/>
              </a:rPr>
              <a:t>References</a:t>
            </a:r>
            <a:endParaRPr lang="en-US" dirty="0"/>
          </a:p>
        </p:txBody>
      </p:sp>
      <p:sp>
        <p:nvSpPr>
          <p:cNvPr id="9" name="Text Placeholder 8">
            <a:extLst>
              <a:ext uri="{FF2B5EF4-FFF2-40B4-BE49-F238E27FC236}">
                <a16:creationId xmlns:a16="http://schemas.microsoft.com/office/drawing/2014/main" id="{E2E19D5C-0099-6C82-6D22-08201A299CE8}"/>
              </a:ext>
            </a:extLst>
          </p:cNvPr>
          <p:cNvSpPr>
            <a:spLocks noGrp="1"/>
          </p:cNvSpPr>
          <p:nvPr>
            <p:ph type="body" idx="1"/>
          </p:nvPr>
        </p:nvSpPr>
        <p:spPr/>
        <p:txBody>
          <a:bodyPr/>
          <a:lstStyle/>
          <a:p>
            <a:r>
              <a:rPr lang="en-US" dirty="0"/>
              <a:t>Erl, Thomas, and Ricardo </a:t>
            </a:r>
            <a:r>
              <a:rPr lang="en-US" dirty="0" err="1"/>
              <a:t>Puttini</a:t>
            </a:r>
            <a:r>
              <a:rPr lang="en-US" dirty="0"/>
              <a:t>. </a:t>
            </a:r>
            <a:r>
              <a:rPr lang="en-US" i="1" dirty="0"/>
              <a:t>Cloud Computing: Concepts, Technology &amp; Architecture.</a:t>
            </a:r>
            <a:r>
              <a:rPr lang="en-US" dirty="0"/>
              <a:t> Prentice Hall, 2013.</a:t>
            </a:r>
          </a:p>
          <a:p>
            <a:r>
              <a:rPr lang="en-US" dirty="0"/>
              <a:t>Hurwitz, Judith, et al. </a:t>
            </a:r>
            <a:r>
              <a:rPr lang="en-US" i="1" dirty="0"/>
              <a:t>Cloud Computing For Dummies.</a:t>
            </a:r>
            <a:r>
              <a:rPr lang="en-US" dirty="0"/>
              <a:t> Wiley, 2012.</a:t>
            </a:r>
          </a:p>
          <a:p>
            <a:pPr lvl="1"/>
            <a:endParaRPr lang="en-US" dirty="0"/>
          </a:p>
          <a:p>
            <a:r>
              <a:rPr lang="en-US" dirty="0"/>
              <a:t>Bhowmik, Sandeep. </a:t>
            </a:r>
            <a:r>
              <a:rPr lang="en-US" i="1" dirty="0"/>
              <a:t>Cloud Computing.</a:t>
            </a:r>
            <a:r>
              <a:rPr lang="en-US" dirty="0"/>
              <a:t> Cambridge University Press, 2017.</a:t>
            </a:r>
          </a:p>
          <a:p>
            <a:endParaRPr lang="en-US" dirty="0"/>
          </a:p>
        </p:txBody>
      </p:sp>
      <p:sp>
        <p:nvSpPr>
          <p:cNvPr id="4" name="Slide Number Placeholder 3"/>
          <p:cNvSpPr>
            <a:spLocks noGrp="1"/>
          </p:cNvSpPr>
          <p:nvPr>
            <p:ph type="sldNum" idx="12"/>
          </p:nvPr>
        </p:nvSpPr>
        <p:spPr/>
        <p:txBody>
          <a:bodyPr>
            <a:normAutofit fontScale="6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r>
              <a:rPr lang="en" dirty="0"/>
              <a:t>/13</a:t>
            </a:r>
          </a:p>
        </p:txBody>
      </p:sp>
      <p:sp>
        <p:nvSpPr>
          <p:cNvPr id="5" name="Rectangle 4"/>
          <p:cNvSpPr/>
          <p:nvPr/>
        </p:nvSpPr>
        <p:spPr>
          <a:xfrm>
            <a:off x="564776" y="3905712"/>
            <a:ext cx="8077199" cy="523220"/>
          </a:xfrm>
          <a:prstGeom prst="rect">
            <a:avLst/>
          </a:prstGeom>
        </p:spPr>
        <p:txBody>
          <a:bodyPr wrap="square">
            <a:spAutoFit/>
          </a:bodyPr>
          <a:lstStyle/>
          <a:p>
            <a:r>
              <a:rPr lang="en-US" b="1" i="1" dirty="0">
                <a:solidFill>
                  <a:srgbClr val="FF0000"/>
                </a:solidFill>
              </a:rPr>
              <a:t>Note: This structure of </a:t>
            </a:r>
            <a:r>
              <a:rPr lang="en-US" b="1" i="1" dirty="0" err="1">
                <a:solidFill>
                  <a:srgbClr val="FF0000"/>
                </a:solidFill>
              </a:rPr>
              <a:t>ppt</a:t>
            </a:r>
            <a:r>
              <a:rPr lang="en-US" b="1" i="1" dirty="0">
                <a:solidFill>
                  <a:srgbClr val="FF0000"/>
                </a:solidFill>
              </a:rPr>
              <a:t> is designed with specific projects in mind. Kindly note that ,this is not </a:t>
            </a:r>
            <a:r>
              <a:rPr lang="en-US" b="1" i="1" dirty="0" err="1">
                <a:solidFill>
                  <a:srgbClr val="FF0000"/>
                </a:solidFill>
              </a:rPr>
              <a:t>theonly</a:t>
            </a:r>
            <a:r>
              <a:rPr lang="en-US" b="1" i="1" dirty="0">
                <a:solidFill>
                  <a:srgbClr val="FF0000"/>
                </a:solidFill>
              </a:rPr>
              <a:t> Standard Format. Format will vary according to nature of projects.</a:t>
            </a:r>
          </a:p>
        </p:txBody>
      </p:sp>
      <p:pic>
        <p:nvPicPr>
          <p:cNvPr id="6"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805873" cy="923925"/>
          </a:xfrm>
          <a:prstGeom prst="rect">
            <a:avLst/>
          </a:prstGeom>
          <a:noFill/>
        </p:spPr>
      </p:pic>
      <p:sp>
        <p:nvSpPr>
          <p:cNvPr id="7" name="TextBox 6">
            <a:extLst>
              <a:ext uri="{FF2B5EF4-FFF2-40B4-BE49-F238E27FC236}">
                <a16:creationId xmlns:a16="http://schemas.microsoft.com/office/drawing/2014/main" id="{F90C23B7-1202-C415-EF56-704F12BD2C05}"/>
              </a:ext>
            </a:extLst>
          </p:cNvPr>
          <p:cNvSpPr txBox="1"/>
          <p:nvPr/>
        </p:nvSpPr>
        <p:spPr>
          <a:xfrm>
            <a:off x="0" y="4860017"/>
            <a:ext cx="87439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60"/>
        <p:cNvGrpSpPr/>
        <p:nvPr/>
      </p:nvGrpSpPr>
      <p:grpSpPr>
        <a:xfrm>
          <a:off x="0" y="0"/>
          <a:ext cx="0" cy="0"/>
          <a:chOff x="0" y="0"/>
          <a:chExt cx="0" cy="0"/>
        </a:xfrm>
      </p:grpSpPr>
      <p:sp>
        <p:nvSpPr>
          <p:cNvPr id="5" name="Google Shape;61;p14">
            <a:extLst>
              <a:ext uri="{FF2B5EF4-FFF2-40B4-BE49-F238E27FC236}">
                <a16:creationId xmlns:a16="http://schemas.microsoft.com/office/drawing/2014/main" id="{407723D5-300B-0F86-A5A0-CCB5ECF151F1}"/>
              </a:ext>
            </a:extLst>
          </p:cNvPr>
          <p:cNvSpPr txBox="1">
            <a:spLocks/>
          </p:cNvSpPr>
          <p:nvPr/>
        </p:nvSpPr>
        <p:spPr>
          <a:xfrm>
            <a:off x="-386575" y="250819"/>
            <a:ext cx="9144000" cy="422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300" dirty="0">
                <a:solidFill>
                  <a:srgbClr val="FF0000"/>
                </a:solidFill>
                <a:latin typeface="Book Antiqua" panose="02040602050305030304" pitchFamily="18" charset="0"/>
                <a:cs typeface="Times New Roman" pitchFamily="18" charset="0"/>
              </a:rPr>
              <a:t>Sample : </a:t>
            </a:r>
            <a:r>
              <a:rPr lang="en-US" sz="2300" dirty="0">
                <a:solidFill>
                  <a:schemeClr val="accent1">
                    <a:lumMod val="75000"/>
                  </a:schemeClr>
                </a:solidFill>
                <a:latin typeface="Book Antiqua" panose="02040602050305030304" pitchFamily="18" charset="0"/>
                <a:cs typeface="Times New Roman" pitchFamily="18" charset="0"/>
              </a:rPr>
              <a:t>Methodology Flowchart  </a:t>
            </a:r>
            <a:endParaRPr lang="en-IN" sz="2300" dirty="0">
              <a:solidFill>
                <a:schemeClr val="accent1">
                  <a:lumMod val="75000"/>
                </a:schemeClr>
              </a:solidFill>
              <a:latin typeface="Book Antiqua" panose="02040602050305030304" pitchFamily="18" charset="0"/>
              <a:cs typeface="Times New Roman" pitchFamily="18" charset="0"/>
            </a:endParaRPr>
          </a:p>
        </p:txBody>
      </p:sp>
      <p:sp>
        <p:nvSpPr>
          <p:cNvPr id="4" name="Slide Number Placeholder 3">
            <a:extLst>
              <a:ext uri="{FF2B5EF4-FFF2-40B4-BE49-F238E27FC236}">
                <a16:creationId xmlns:a16="http://schemas.microsoft.com/office/drawing/2014/main" id="{E8D087D7-82B9-7197-C73C-16639B7AA3CE}"/>
              </a:ext>
            </a:extLst>
          </p:cNvPr>
          <p:cNvSpPr>
            <a:spLocks noGrp="1"/>
          </p:cNvSpPr>
          <p:nvPr>
            <p:ph type="sldNum" idx="12"/>
          </p:nvPr>
        </p:nvSpPr>
        <p:spPr>
          <a:xfrm>
            <a:off x="8603574" y="4794022"/>
            <a:ext cx="548700" cy="393600"/>
          </a:xfrm>
        </p:spPr>
        <p:txBody>
          <a:bodyPr>
            <a:normAutofit fontScale="62500" lnSpcReduction="20000"/>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13</a:t>
            </a:fld>
            <a:r>
              <a:rPr lang="en" dirty="0"/>
              <a:t>/13</a:t>
            </a:r>
          </a:p>
        </p:txBody>
      </p:sp>
      <p:sp>
        <p:nvSpPr>
          <p:cNvPr id="3" name="TextBox 2">
            <a:extLst>
              <a:ext uri="{FF2B5EF4-FFF2-40B4-BE49-F238E27FC236}">
                <a16:creationId xmlns:a16="http://schemas.microsoft.com/office/drawing/2014/main" id="{4BA37441-BDA7-B011-682F-396CB26CCF72}"/>
              </a:ext>
            </a:extLst>
          </p:cNvPr>
          <p:cNvSpPr txBox="1"/>
          <p:nvPr/>
        </p:nvSpPr>
        <p:spPr>
          <a:xfrm>
            <a:off x="0" y="4860017"/>
            <a:ext cx="8515350" cy="261610"/>
          </a:xfrm>
          <a:prstGeom prst="rect">
            <a:avLst/>
          </a:prstGeom>
          <a:noFill/>
        </p:spPr>
        <p:txBody>
          <a:bodyPr wrap="square" rtlCol="0">
            <a:spAutoFit/>
          </a:bodyPr>
          <a:lstStyle/>
          <a:p>
            <a:r>
              <a:rPr lang="en-US" sz="1100" dirty="0">
                <a:solidFill>
                  <a:schemeClr val="bg2">
                    <a:lumMod val="40000"/>
                    <a:lumOff val="60000"/>
                  </a:schemeClr>
                </a:solidFill>
              </a:rPr>
              <a:t>Date                                                                      Register Number of the Student</a:t>
            </a:r>
            <a:endParaRPr lang="en-IN" sz="1100" dirty="0">
              <a:solidFill>
                <a:schemeClr val="bg2">
                  <a:lumMod val="40000"/>
                  <a:lumOff val="60000"/>
                </a:schemeClr>
              </a:solidFill>
            </a:endParaRPr>
          </a:p>
        </p:txBody>
      </p:sp>
      <p:pic>
        <p:nvPicPr>
          <p:cNvPr id="7" name="Picture 1" descr="https://encrypted-tbn0.gstatic.com/images?q=tbn:ANd9GcQdAoy8HAYiGwgqBMeq0EtfxKBc5i9totR_W7yOXHEosxAvJ3u6k6r7MVNRo_M3U1QAJMc&amp;usqp=CAU"/>
          <p:cNvPicPr>
            <a:picLocks noChangeAspect="1" noChangeArrowheads="1"/>
          </p:cNvPicPr>
          <p:nvPr/>
        </p:nvPicPr>
        <p:blipFill>
          <a:blip r:embed="rId3"/>
          <a:srcRect/>
          <a:stretch>
            <a:fillRect/>
          </a:stretch>
        </p:blipFill>
        <p:spPr bwMode="auto">
          <a:xfrm>
            <a:off x="0" y="0"/>
            <a:ext cx="805873" cy="923925"/>
          </a:xfrm>
          <a:prstGeom prst="rect">
            <a:avLst/>
          </a:prstGeom>
          <a:noFill/>
        </p:spPr>
      </p:pic>
      <p:sp>
        <p:nvSpPr>
          <p:cNvPr id="2" name="AutoShape 2" descr="Cloud Computing Flow Diagram ">
            <a:extLst>
              <a:ext uri="{FF2B5EF4-FFF2-40B4-BE49-F238E27FC236}">
                <a16:creationId xmlns:a16="http://schemas.microsoft.com/office/drawing/2014/main" id="{FC0E9C48-13A4-B2D3-9485-FC52885B4F6E}"/>
              </a:ext>
            </a:extLst>
          </p:cNvPr>
          <p:cNvSpPr>
            <a:spLocks noChangeAspect="1" noChangeArrowheads="1"/>
          </p:cNvSpPr>
          <p:nvPr/>
        </p:nvSpPr>
        <p:spPr bwMode="auto">
          <a:xfrm>
            <a:off x="2891883" y="2419350"/>
            <a:ext cx="1832517"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6A9E3CC8-9E3C-B92B-C2A3-5182DC3D1526}"/>
              </a:ext>
            </a:extLst>
          </p:cNvPr>
          <p:cNvPicPr>
            <a:picLocks noChangeAspect="1"/>
          </p:cNvPicPr>
          <p:nvPr/>
        </p:nvPicPr>
        <p:blipFill>
          <a:blip r:embed="rId4"/>
          <a:stretch>
            <a:fillRect/>
          </a:stretch>
        </p:blipFill>
        <p:spPr>
          <a:xfrm>
            <a:off x="1672683" y="836702"/>
            <a:ext cx="6358728" cy="4055979"/>
          </a:xfrm>
          <a:prstGeom prst="rect">
            <a:avLst/>
          </a:prstGeom>
        </p:spPr>
      </p:pic>
    </p:spTree>
    <p:extLst>
      <p:ext uri="{BB962C8B-B14F-4D97-AF65-F5344CB8AC3E}">
        <p14:creationId xmlns:p14="http://schemas.microsoft.com/office/powerpoint/2010/main" val="21515911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Visual-Learning-vs-Classroom-Learning-A-Comparative-Analysis</Template>
  <TotalTime>4168</TotalTime>
  <Words>1117</Words>
  <Application>Microsoft Office PowerPoint</Application>
  <PresentationFormat>On-screen Show (16:9)</PresentationFormat>
  <Paragraphs>102</Paragraphs>
  <Slides>13</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MS Mincho</vt:lpstr>
      <vt:lpstr>Arial</vt:lpstr>
      <vt:lpstr>Berlin Sans FB Demi</vt:lpstr>
      <vt:lpstr>Book Antiqua</vt:lpstr>
      <vt:lpstr>Calibri</vt:lpstr>
      <vt:lpstr>Wingdings</vt:lpstr>
      <vt:lpstr>Office Theme</vt:lpstr>
      <vt:lpstr>PowerPoint Presentation</vt:lpstr>
      <vt:lpstr>PowerPoint Presentation</vt:lpstr>
      <vt:lpstr>result</vt:lpstr>
      <vt:lpstr>Need of study </vt:lpstr>
      <vt:lpstr>Abstract  </vt:lpstr>
      <vt:lpstr>Introduction </vt:lpstr>
      <vt:lpstr>Sample: Problem statement </vt:lpstr>
      <vt:lpstr>Literature Review ( Most imp. Section at this seminar) </vt:lpstr>
      <vt:lpstr>Gap Identification/Problem Definition</vt:lpstr>
      <vt:lpstr>Methodology  </vt:lpstr>
      <vt:lpstr>Methodology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Doctoral Committee Meeting Department Of Civil Engineering</dc:title>
  <dc:creator>ELCOT</dc:creator>
  <cp:lastModifiedBy>Nanthakumar K</cp:lastModifiedBy>
  <cp:revision>176</cp:revision>
  <dcterms:modified xsi:type="dcterms:W3CDTF">2026-01-22T14:51:22Z</dcterms:modified>
</cp:coreProperties>
</file>